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7" r:id="rId28"/>
    <p:sldId id="278" r:id="rId29"/>
    <p:sldId id="279" r:id="rId30"/>
    <p:sldId id="280" r:id="rId31"/>
    <p:sldId id="281" r:id="rId32"/>
    <p:sldId id="282" r:id="rId33"/>
    <p:sldId id="283" r:id="rId34"/>
    <p:sldId id="284" r:id="rId35"/>
    <p:sldId id="285" r:id="rId36"/>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VOTE (3 minutes): Read the choices, pause, and ask everyone to choose. Invite one person from two groups to share a 20-second origin story. Say: Every hand represents a conversation someone chose to start. Today you will practice creating the next conversation. There is no correct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 minutes): Draw attention to the two different people in the middle. The captain is the inviter and host; the guest is the invited person. A prospect may eventually become a captain after joining. Ask the room to name one person whose first contact was a client conversation and one whose first contact was a BOM.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(4 minutes): Do not imply that an unjoined prospect must be a captain first. A new recruit can learn captain habits early. Keep each person’s decision voluntary and document a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(4 minutes): Ask “What prompted you to explore something new?” and “What would you want to learn first?” Then choose one specific invitation. The PHPU material encourages questions and taking substantial conversations off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ROUND 1 (3 minutes): Everyone votes A, B, or C with fingers. Ask one person to explain their answer. B is best. Ask what Alex wants to change, explain that the work includes learning and licensing, then offer a specific event. No income promise or purchase requirement. Ask pairs to say the invitation in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(5 minutes): PHPU calls ten or more invitations for a BOM a captain. Submit guest information by the prior day or noon, and coordinate confirmation. Clarify team roles: generator supplies prospects, captain brings and hosts guests, closer or trainer conducts the appropriate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(4 minutes): Role play a 30-second introduction. “This is Alex. We spoke about exploring part-time work. Alex wanted to understand the training and what agents actually do.” Keep the introduction accurate and avoid income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ROUND 2 (3 minutes): Vote, then have a volunteer respond to Alex. B is best. Enrollment begins a training responsibility. Invite participants to name the owner, appointment, and first licensing or training milestone. Connect this answer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(5 minutes): The first week should be concrete. Schedule the next office event and role play, identify a licensing milestone, and assign a trainer. An associate cannot sell insurance or earn a sales commission before obtaining required licensing. Use current PHP onboarding documents for fees and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(5 minutes): Avoid assuming every recruit should purchase a policy. A family can receive service without joining; a recruit can join without buying. Product advice and sales belong with properly licensed and appointed agents. Ask what client service looks like after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ROUND 3 (4 minutes): Ask which path fits Maya. C fits both stated interests. A or B fits if Maya chooses only one. Ask: What question would you ask before scheduling? Emphasize that joining and purchasing are separate decisions. Pair exercise: one asks a discovery question, the other chooses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Slow down here (6 minutes): Sponsoring an agent is not itself a payable event under PHP’s published disclosure. Do not call renewal compensation guaranteed passive income. The actual current carrier contract and PHP compensation plan govern rate, eligibility, vesting, persistence, chargebacks, and timing. Show the current plan if available; otherwise discuss the concept without dollar examples. The next nine slides (Income &amp; Timelines) show the current plan material: commission math, overrides, the $10,000 cap, points and cash timelines, weekly carrier cutoffs, generational overrides and President’s Club. Skip any you do not need; the Income myth check still works on its own.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(3 minutes): Ask for votes before giving the answer. B is best. Sponsorship and referrals create potential conversations; qualifying product business can create compensation under applicable terms. Follow-up question: Does every policy pay renewals? Answer: Renewal compensation depends on the contract and conditions. Do not teach an exact rate without current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(4 minutes): Ask for introductions after the client has received value, with permission to contact. A referral is an introduction, not a sale. The new person may want education, a client meeting, or to hear about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(4 minutes): This is where a system duplicates. PHPU treats active personal directs as people actually writing business, not merely holding a code. MPBS emphasizes personal width, associate and guest count, Fast Start, and promotions.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(4 minutes): Ask the room to map two real journeys without naming private client details. The paths can overlap but no one needs to buy a product to be recruited. Mark the handoff owner for each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exercise (5 minutes): PHPU’s 100 invitations, 30 attendees, 10 starts implies 10/3/1. Actual Dynasty rates may differ. On a board write invited, confirmed, attended, started, licensed, active writers, and placed cases. Ask where this week’s biggest drop occurred. Never convert starts directly to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CHALLENGE (5 minutes): Teams get 60 seconds to identify the gap and propose a fix. B directly addresses the missing handoff. Ask each team for owner, action, and date. Illustration: 9/30 = 30% attendance; 3/30 = 10% starts. Those rates match the source example, but the next development step is missing. This is a fictional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(4 minutes): Have each participant enter last week’s real numbers and circle one handoff to improve. Distinguish submitted and placed business. Track referrals by source while respecting privacy and communication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(9 minutes): Groups of three. Each round: 60 seconds for conversation, 30 seconds for coach feedback, and 30 seconds to retry. Rotate roles. Coach awards one point each for discovery question, fitting next step, named owner, agreed date, and respect for choice. Maximum five points per round. Compare teams on skill demonstrated, not income or sign-ups. Debrief one improvement per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(3 minutes): Each agent writes names, dates, owner, and next action. Ask one sentence: “The handoff I will improve this week is ___.” Review at next Saturday captain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(5 minutes): Walk the formula with PHP’s $1,000 example, then have each person substitute their own contract level. Product rate comes from the carrier compensation grid for the specific product. State clearly that these are PHP’s illustrations, not income expectations. Commissionable premium is the lower of annual or target premium; on permanent products read it from the illustration.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(4 minutes): Same $1,000 case as the last slide. The writing agent earns their contract level; the upline earns only the difference between levels. Reinforce the Income myth check later in this module: a recruit signing up is not a payable event. Do not quote override percentages for other level pairs without the current plan in hand.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(5 minutes): The cap applies before the contract-level percentage. PHP’s example: a Marketing Director at 75% writes a $15,000 premium at a 105% product rate. $15,000 × 105% = $15,750. Paid now: $10,000 cap × 75% = $7,500. After the free-look period, if still in force: ($15,750 − $10,000) × 75% = $4,312.50. Carriers can cap on their own terms.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KNOWLEDGE CHECK (3 minutes): Vote first. B is best. $15,750 is capped at $10,000, and 75% of that is $7,500. The remaining $5,750 pays 75% = $4,312.50 after the free-look period if the case is still in force; $7,500 + $4,312.50 = $11,812.50 (answer A is the eventual total, not what is paid up front). This is PHP’s own example; carriers may apply their own caps.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(5 minutes): Life term points = premium × mode (e.g., $100 × 12 = 1,200) or the lowest of target; UL/IUL uses the lower of target premium or premium × mode and needs a full illustration. Annuity example from the bulletin: $100,000 premium worth 7,500 points, submitted April 4, placed and paid May 2 → 0 points on April 4, 7,500 on May 2. Re-review applications before close-out; there is no courtesy review period. NOTE: the Life checklist is dated 2022; confirm nothing has changed before teaching it as current.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(5 minutes): The two-day delay assumes no QC and everything in good order. For QC on life: premium payments applied, policy shows In Force on the carrier site, and the signed PDR is in-house and submitted to the carrier; then email inforce@phpagency.com to schedule the client call. Annuities over $5,000 are placed under QC automatically once commission is received. Exemptions come from a 2022 checklist; confirm they still apply.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(3 minutes): Hand this out or screenshot it. Annuity PDR cutoff is the prior day at 5 PM CST, and PHP asks for one business day of processing. Send annuity PDRs to phpannuityplacement@phpagency.com. QC applies to premiums over $5,000 and is visible in the notes section of the policy details.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(5 minutes): Up to 25% is the most the seven generations can add up to, not a flat share of anyone’s production. The 5/10 rule: 5 MD base recruits and 10,000 MD base submitted points per month. PHP’s wording says the recruits may not be self-sponsored; confirm the exact meaning with the Home Office before explaining it. Do not turn these percentages into income projections.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(6 minutes): The PHPU page ties each shirt to monthly recruits through the 10/3/1 funnel. That page also prints monthly income figures ($2,500 to $25,000) built on apps × 1,000 × 25%. Do not present those as expectations: the 2025 Compensation &amp; Promotion Guidelines describe generational overrides as 10/5/4/3/1/1/1 with qualification rules, and do not mention President’s Club pay. The Green Shirt per-BOM line on the page (31 guests, 6 recruits) also does not match its own 94 confirms at 30% and 10%. Confirm current President’s Club details with the Home Office.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Where did your story begin?</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AUDIENCE CHALLENGE</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a:t>
            </a:r>
            <a:endParaRPr lang="en-US" sz="1000" dirty="0"/>
          </a:p>
        </p:txBody>
      </p:sp>
      <p:sp>
        <p:nvSpPr>
          <p:cNvPr id="6" name="Text 4"/>
          <p:cNvSpPr/>
          <p:nvPr/>
        </p:nvSpPr>
        <p:spPr>
          <a:xfrm>
            <a:off x="731520" y="1554480"/>
            <a:ext cx="10607040" cy="1051560"/>
          </a:xfrm>
          <a:prstGeom prst="rect">
            <a:avLst/>
          </a:prstGeom>
          <a:noFill/>
          <a:ln/>
        </p:spPr>
        <p:txBody>
          <a:bodyPr wrap="square" lIns="0" tIns="0" rIns="0" bIns="0" rtlCol="0" anchor="ctr"/>
          <a:lstStyle/>
          <a:p>
            <a:pPr indent="0" marL="0">
              <a:buNone/>
            </a:pPr>
            <a:r>
              <a:rPr lang="en-US" sz="3000" b="1" dirty="0">
                <a:solidFill>
                  <a:srgbClr val="FFFFFF"/>
                </a:solidFill>
              </a:rPr>
              <a:t>Stand or raise your hand for the answer that fits you.</a:t>
            </a:r>
            <a:endParaRPr lang="en-US" sz="3000" dirty="0"/>
          </a:p>
        </p:txBody>
      </p:sp>
      <p:sp>
        <p:nvSpPr>
          <p:cNvPr id="7" name="Text 5"/>
          <p:cNvSpPr/>
          <p:nvPr/>
        </p:nvSpPr>
        <p:spPr>
          <a:xfrm>
            <a:off x="777240" y="283464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A</a:t>
            </a:r>
            <a:endParaRPr lang="en-US" sz="2800" dirty="0"/>
          </a:p>
        </p:txBody>
      </p:sp>
      <p:sp>
        <p:nvSpPr>
          <p:cNvPr id="8" name="Text 6"/>
          <p:cNvSpPr/>
          <p:nvPr/>
        </p:nvSpPr>
        <p:spPr>
          <a:xfrm>
            <a:off x="1417320" y="2834640"/>
            <a:ext cx="9692640" cy="594360"/>
          </a:xfrm>
          <a:prstGeom prst="rect">
            <a:avLst/>
          </a:prstGeom>
          <a:noFill/>
          <a:ln/>
        </p:spPr>
        <p:txBody>
          <a:bodyPr wrap="square" lIns="0" tIns="0" rIns="0" bIns="0" rtlCol="0" anchor="ctr"/>
          <a:lstStyle/>
          <a:p>
            <a:pPr indent="0" marL="0">
              <a:buNone/>
            </a:pPr>
            <a:r>
              <a:rPr lang="en-US" sz="2300" dirty="0">
                <a:solidFill>
                  <a:srgbClr val="FFFFFF"/>
                </a:solidFill>
              </a:rPr>
              <a:t>Someone invited me to hear about the business.</a:t>
            </a:r>
            <a:endParaRPr lang="en-US" sz="2300" dirty="0"/>
          </a:p>
        </p:txBody>
      </p:sp>
      <p:sp>
        <p:nvSpPr>
          <p:cNvPr id="9" name="Text 7"/>
          <p:cNvSpPr/>
          <p:nvPr/>
        </p:nvSpPr>
        <p:spPr>
          <a:xfrm>
            <a:off x="777240" y="361188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B</a:t>
            </a:r>
            <a:endParaRPr lang="en-US" sz="2800" dirty="0"/>
          </a:p>
        </p:txBody>
      </p:sp>
      <p:sp>
        <p:nvSpPr>
          <p:cNvPr id="10" name="Text 8"/>
          <p:cNvSpPr/>
          <p:nvPr/>
        </p:nvSpPr>
        <p:spPr>
          <a:xfrm>
            <a:off x="1417320" y="3611880"/>
            <a:ext cx="9692640" cy="594360"/>
          </a:xfrm>
          <a:prstGeom prst="rect">
            <a:avLst/>
          </a:prstGeom>
          <a:noFill/>
          <a:ln/>
        </p:spPr>
        <p:txBody>
          <a:bodyPr wrap="square" lIns="0" tIns="0" rIns="0" bIns="0" rtlCol="0" anchor="ctr"/>
          <a:lstStyle/>
          <a:p>
            <a:pPr indent="0" marL="0">
              <a:buNone/>
            </a:pPr>
            <a:r>
              <a:rPr lang="en-US" sz="2300" dirty="0">
                <a:solidFill>
                  <a:srgbClr val="FFFFFF"/>
                </a:solidFill>
              </a:rPr>
              <a:t>I first came for help with my family’s finances.</a:t>
            </a:r>
            <a:endParaRPr lang="en-US" sz="2300" dirty="0"/>
          </a:p>
        </p:txBody>
      </p:sp>
      <p:sp>
        <p:nvSpPr>
          <p:cNvPr id="11" name="Text 9"/>
          <p:cNvSpPr/>
          <p:nvPr/>
        </p:nvSpPr>
        <p:spPr>
          <a:xfrm>
            <a:off x="777240" y="438912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C</a:t>
            </a:r>
            <a:endParaRPr lang="en-US" sz="2800" dirty="0"/>
          </a:p>
        </p:txBody>
      </p:sp>
      <p:sp>
        <p:nvSpPr>
          <p:cNvPr id="12" name="Text 10"/>
          <p:cNvSpPr/>
          <p:nvPr/>
        </p:nvSpPr>
        <p:spPr>
          <a:xfrm>
            <a:off x="1417320" y="4389120"/>
            <a:ext cx="9692640" cy="594360"/>
          </a:xfrm>
          <a:prstGeom prst="rect">
            <a:avLst/>
          </a:prstGeom>
          <a:noFill/>
          <a:ln/>
        </p:spPr>
        <p:txBody>
          <a:bodyPr wrap="square" lIns="0" tIns="0" rIns="0" bIns="0" rtlCol="0" anchor="ctr"/>
          <a:lstStyle/>
          <a:p>
            <a:pPr indent="0" marL="0">
              <a:buNone/>
            </a:pPr>
            <a:r>
              <a:rPr lang="en-US" sz="2300" dirty="0">
                <a:solidFill>
                  <a:srgbClr val="FFFFFF"/>
                </a:solidFill>
              </a:rPr>
              <a:t>A client or teammate introduced me.</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The life cycle of a recruit</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 person can enter as a guest, a client prospect, or both.</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a:t>
            </a:r>
            <a:endParaRPr lang="en-US" sz="1000" dirty="0"/>
          </a:p>
        </p:txBody>
      </p:sp>
      <p:sp>
        <p:nvSpPr>
          <p:cNvPr id="6" name="Text 4"/>
          <p:cNvSpPr/>
          <p:nvPr/>
        </p:nvSpPr>
        <p:spPr>
          <a:xfrm>
            <a:off x="786384" y="155448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Prospect</a:t>
            </a:r>
            <a:endParaRPr lang="en-US" sz="1800" dirty="0"/>
          </a:p>
        </p:txBody>
      </p:sp>
      <p:sp>
        <p:nvSpPr>
          <p:cNvPr id="7" name="Text 5"/>
          <p:cNvSpPr/>
          <p:nvPr/>
        </p:nvSpPr>
        <p:spPr>
          <a:xfrm>
            <a:off x="3621024" y="1554480"/>
            <a:ext cx="7589520" cy="994410"/>
          </a:xfrm>
          <a:prstGeom prst="rect">
            <a:avLst/>
          </a:prstGeom>
          <a:noFill/>
          <a:ln/>
        </p:spPr>
        <p:txBody>
          <a:bodyPr wrap="square" lIns="0" tIns="0" rIns="0" bIns="0" rtlCol="0" anchor="ctr"/>
          <a:lstStyle/>
          <a:p>
            <a:pPr indent="0" marL="0">
              <a:buNone/>
            </a:pPr>
            <a:r>
              <a:rPr lang="en-US" sz="1900" dirty="0">
                <a:solidFill>
                  <a:srgbClr val="FFFFFF"/>
                </a:solidFill>
              </a:rPr>
              <a:t>Someone you know or meet who may value the service or opportunity.</a:t>
            </a:r>
            <a:endParaRPr lang="en-US" sz="1900" dirty="0"/>
          </a:p>
        </p:txBody>
      </p:sp>
      <p:sp>
        <p:nvSpPr>
          <p:cNvPr id="8" name="Text 6"/>
          <p:cNvSpPr/>
          <p:nvPr/>
        </p:nvSpPr>
        <p:spPr>
          <a:xfrm>
            <a:off x="786384" y="273177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Captain and guest</a:t>
            </a:r>
            <a:endParaRPr lang="en-US" sz="1800" dirty="0"/>
          </a:p>
        </p:txBody>
      </p:sp>
      <p:sp>
        <p:nvSpPr>
          <p:cNvPr id="9" name="Text 7"/>
          <p:cNvSpPr/>
          <p:nvPr/>
        </p:nvSpPr>
        <p:spPr>
          <a:xfrm>
            <a:off x="3621024" y="2731770"/>
            <a:ext cx="7589520" cy="994410"/>
          </a:xfrm>
          <a:prstGeom prst="rect">
            <a:avLst/>
          </a:prstGeom>
          <a:noFill/>
          <a:ln/>
        </p:spPr>
        <p:txBody>
          <a:bodyPr wrap="square" lIns="0" tIns="0" rIns="0" bIns="0" rtlCol="0" anchor="ctr"/>
          <a:lstStyle/>
          <a:p>
            <a:pPr indent="0" marL="0">
              <a:buNone/>
            </a:pPr>
            <a:r>
              <a:rPr lang="en-US" sz="1900" dirty="0">
                <a:solidFill>
                  <a:srgbClr val="FFFFFF"/>
                </a:solidFill>
              </a:rPr>
              <a:t>A captain invites and hosts. The guest experiences the team.</a:t>
            </a:r>
            <a:endParaRPr lang="en-US" sz="1900" dirty="0"/>
          </a:p>
        </p:txBody>
      </p:sp>
      <p:sp>
        <p:nvSpPr>
          <p:cNvPr id="10" name="Text 8"/>
          <p:cNvSpPr/>
          <p:nvPr/>
        </p:nvSpPr>
        <p:spPr>
          <a:xfrm>
            <a:off x="786384" y="390906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Recruit and client</a:t>
            </a:r>
            <a:endParaRPr lang="en-US" sz="1800" dirty="0"/>
          </a:p>
        </p:txBody>
      </p:sp>
      <p:sp>
        <p:nvSpPr>
          <p:cNvPr id="11" name="Text 9"/>
          <p:cNvSpPr/>
          <p:nvPr/>
        </p:nvSpPr>
        <p:spPr>
          <a:xfrm>
            <a:off x="3621024" y="3909060"/>
            <a:ext cx="7589520" cy="994410"/>
          </a:xfrm>
          <a:prstGeom prst="rect">
            <a:avLst/>
          </a:prstGeom>
          <a:noFill/>
          <a:ln/>
        </p:spPr>
        <p:txBody>
          <a:bodyPr wrap="square" lIns="0" tIns="0" rIns="0" bIns="0" rtlCol="0" anchor="ctr"/>
          <a:lstStyle/>
          <a:p>
            <a:pPr indent="0" marL="0">
              <a:buNone/>
            </a:pPr>
            <a:r>
              <a:rPr lang="en-US" sz="1900" dirty="0">
                <a:solidFill>
                  <a:srgbClr val="FFFFFF"/>
                </a:solidFill>
              </a:rPr>
              <a:t>The guest may join, receive service, do both, or decline.</a:t>
            </a:r>
            <a:endParaRPr lang="en-US" sz="1900" dirty="0"/>
          </a:p>
        </p:txBody>
      </p:sp>
      <p:sp>
        <p:nvSpPr>
          <p:cNvPr id="12" name="Text 10"/>
          <p:cNvSpPr/>
          <p:nvPr/>
        </p:nvSpPr>
        <p:spPr>
          <a:xfrm>
            <a:off x="786384" y="508635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Income and referrals</a:t>
            </a:r>
            <a:endParaRPr lang="en-US" sz="1800" dirty="0"/>
          </a:p>
        </p:txBody>
      </p:sp>
      <p:sp>
        <p:nvSpPr>
          <p:cNvPr id="13" name="Text 11"/>
          <p:cNvSpPr/>
          <p:nvPr/>
        </p:nvSpPr>
        <p:spPr>
          <a:xfrm>
            <a:off x="3621024" y="5086350"/>
            <a:ext cx="7589520" cy="994410"/>
          </a:xfrm>
          <a:prstGeom prst="rect">
            <a:avLst/>
          </a:prstGeom>
          <a:noFill/>
          <a:ln/>
        </p:spPr>
        <p:txBody>
          <a:bodyPr wrap="square" lIns="0" tIns="0" rIns="0" bIns="0" rtlCol="0" anchor="ctr"/>
          <a:lstStyle/>
          <a:p>
            <a:pPr indent="0" marL="0">
              <a:buNone/>
            </a:pPr>
            <a:r>
              <a:rPr lang="en-US" sz="1900" dirty="0">
                <a:solidFill>
                  <a:srgbClr val="FFFFFF"/>
                </a:solidFill>
              </a:rPr>
              <a:t>Placed business can generate eligible compensation; people may introduce others.</a:t>
            </a:r>
            <a:endParaRPr lang="en-US" sz="1900" dirty="0"/>
          </a:p>
        </p:txBody>
      </p:sp>
      <p:sp>
        <p:nvSpPr>
          <p:cNvPr id="14" name="Text 12"/>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PHPU PT 3, p. 41; PHP Agency 2022 Income Disclosure.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Two people move through this system</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The inviter’s path and the guest’s path meet at the event.</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3</a:t>
            </a:r>
            <a:endParaRPr lang="en-US" sz="1000" dirty="0"/>
          </a:p>
        </p:txBody>
      </p:sp>
      <p:sp>
        <p:nvSpPr>
          <p:cNvPr id="6" name="Text 4"/>
          <p:cNvSpPr/>
          <p:nvPr/>
        </p:nvSpPr>
        <p:spPr>
          <a:xfrm>
            <a:off x="786384" y="1554480"/>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Inviter</a:t>
            </a:r>
            <a:endParaRPr lang="en-US" sz="1800" dirty="0"/>
          </a:p>
        </p:txBody>
      </p:sp>
      <p:sp>
        <p:nvSpPr>
          <p:cNvPr id="7" name="Text 5"/>
          <p:cNvSpPr/>
          <p:nvPr/>
        </p:nvSpPr>
        <p:spPr>
          <a:xfrm>
            <a:off x="3621024" y="1554480"/>
            <a:ext cx="7589520" cy="1024128"/>
          </a:xfrm>
          <a:prstGeom prst="rect">
            <a:avLst/>
          </a:prstGeom>
          <a:noFill/>
          <a:ln/>
        </p:spPr>
        <p:txBody>
          <a:bodyPr wrap="square" lIns="0" tIns="0" rIns="0" bIns="0" rtlCol="0" anchor="ctr"/>
          <a:lstStyle/>
          <a:p>
            <a:pPr indent="0" marL="0">
              <a:buNone/>
            </a:pPr>
            <a:r>
              <a:rPr lang="en-US" sz="1900" dirty="0">
                <a:solidFill>
                  <a:srgbClr val="FFFFFF"/>
                </a:solidFill>
              </a:rPr>
              <a:t>Prospect becomes recruit, learns the system, and serves as captain.</a:t>
            </a:r>
            <a:endParaRPr lang="en-US" sz="1900" dirty="0"/>
          </a:p>
        </p:txBody>
      </p:sp>
      <p:sp>
        <p:nvSpPr>
          <p:cNvPr id="8" name="Text 6"/>
          <p:cNvSpPr/>
          <p:nvPr/>
        </p:nvSpPr>
        <p:spPr>
          <a:xfrm>
            <a:off x="786384" y="2761488"/>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Guest</a:t>
            </a:r>
            <a:endParaRPr lang="en-US" sz="1800" dirty="0"/>
          </a:p>
        </p:txBody>
      </p:sp>
      <p:sp>
        <p:nvSpPr>
          <p:cNvPr id="9" name="Text 7"/>
          <p:cNvSpPr/>
          <p:nvPr/>
        </p:nvSpPr>
        <p:spPr>
          <a:xfrm>
            <a:off x="3621024" y="2761488"/>
            <a:ext cx="7589520" cy="1024128"/>
          </a:xfrm>
          <a:prstGeom prst="rect">
            <a:avLst/>
          </a:prstGeom>
          <a:noFill/>
          <a:ln/>
        </p:spPr>
        <p:txBody>
          <a:bodyPr wrap="square" lIns="0" tIns="0" rIns="0" bIns="0" rtlCol="0" anchor="ctr"/>
          <a:lstStyle/>
          <a:p>
            <a:pPr indent="0" marL="0">
              <a:buNone/>
            </a:pPr>
            <a:r>
              <a:rPr lang="en-US" sz="1900" dirty="0">
                <a:solidFill>
                  <a:srgbClr val="FFFFFF"/>
                </a:solidFill>
              </a:rPr>
              <a:t>Captain’s invitation brings a prospect to BOM or an interview.</a:t>
            </a:r>
            <a:endParaRPr lang="en-US" sz="1900" dirty="0"/>
          </a:p>
        </p:txBody>
      </p:sp>
      <p:sp>
        <p:nvSpPr>
          <p:cNvPr id="10" name="Text 8"/>
          <p:cNvSpPr/>
          <p:nvPr/>
        </p:nvSpPr>
        <p:spPr>
          <a:xfrm>
            <a:off x="786384" y="3968496"/>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Choice</a:t>
            </a:r>
            <a:endParaRPr lang="en-US" sz="1800" dirty="0"/>
          </a:p>
        </p:txBody>
      </p:sp>
      <p:sp>
        <p:nvSpPr>
          <p:cNvPr id="11" name="Text 9"/>
          <p:cNvSpPr/>
          <p:nvPr/>
        </p:nvSpPr>
        <p:spPr>
          <a:xfrm>
            <a:off x="3621024" y="3968496"/>
            <a:ext cx="7589520" cy="1024128"/>
          </a:xfrm>
          <a:prstGeom prst="rect">
            <a:avLst/>
          </a:prstGeom>
          <a:noFill/>
          <a:ln/>
        </p:spPr>
        <p:txBody>
          <a:bodyPr wrap="square" lIns="0" tIns="0" rIns="0" bIns="0" rtlCol="0" anchor="ctr"/>
          <a:lstStyle/>
          <a:p>
            <a:pPr indent="0" marL="0">
              <a:buNone/>
            </a:pPr>
            <a:r>
              <a:rPr lang="en-US" sz="1900" dirty="0">
                <a:solidFill>
                  <a:srgbClr val="FFFFFF"/>
                </a:solidFill>
              </a:rPr>
              <a:t>The guest chooses business, client service, both, or no next step.</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PHPU PT 3, p. 41.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Stage 1: Prospect</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The goal is a real conversation and a fitting invitation.</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4</a:t>
            </a:r>
            <a:endParaRPr lang="en-US" sz="1000" dirty="0"/>
          </a:p>
        </p:txBody>
      </p:sp>
      <p:sp>
        <p:nvSpPr>
          <p:cNvPr id="6" name="Text 4"/>
          <p:cNvSpPr/>
          <p:nvPr/>
        </p:nvSpPr>
        <p:spPr>
          <a:xfrm>
            <a:off x="786384" y="1554480"/>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Discover</a:t>
            </a:r>
            <a:endParaRPr lang="en-US" sz="1800" dirty="0"/>
          </a:p>
        </p:txBody>
      </p:sp>
      <p:sp>
        <p:nvSpPr>
          <p:cNvPr id="7" name="Text 5"/>
          <p:cNvSpPr/>
          <p:nvPr/>
        </p:nvSpPr>
        <p:spPr>
          <a:xfrm>
            <a:off x="3621024" y="1554480"/>
            <a:ext cx="7589520" cy="1024128"/>
          </a:xfrm>
          <a:prstGeom prst="rect">
            <a:avLst/>
          </a:prstGeom>
          <a:noFill/>
          <a:ln/>
        </p:spPr>
        <p:txBody>
          <a:bodyPr wrap="square" lIns="0" tIns="0" rIns="0" bIns="0" rtlCol="0" anchor="ctr"/>
          <a:lstStyle/>
          <a:p>
            <a:pPr indent="0" marL="0">
              <a:buNone/>
            </a:pPr>
            <a:r>
              <a:rPr lang="en-US" sz="1900" dirty="0">
                <a:solidFill>
                  <a:srgbClr val="FFFFFF"/>
                </a:solidFill>
              </a:rPr>
              <a:t>Ask what they want to improve in work, income, or family protection.</a:t>
            </a:r>
            <a:endParaRPr lang="en-US" sz="1900" dirty="0"/>
          </a:p>
        </p:txBody>
      </p:sp>
      <p:sp>
        <p:nvSpPr>
          <p:cNvPr id="8" name="Text 6"/>
          <p:cNvSpPr/>
          <p:nvPr/>
        </p:nvSpPr>
        <p:spPr>
          <a:xfrm>
            <a:off x="786384" y="2761488"/>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Choose invitation</a:t>
            </a:r>
            <a:endParaRPr lang="en-US" sz="1800" dirty="0"/>
          </a:p>
        </p:txBody>
      </p:sp>
      <p:sp>
        <p:nvSpPr>
          <p:cNvPr id="9" name="Text 7"/>
          <p:cNvSpPr/>
          <p:nvPr/>
        </p:nvSpPr>
        <p:spPr>
          <a:xfrm>
            <a:off x="3621024" y="2761488"/>
            <a:ext cx="7589520" cy="1024128"/>
          </a:xfrm>
          <a:prstGeom prst="rect">
            <a:avLst/>
          </a:prstGeom>
          <a:noFill/>
          <a:ln/>
        </p:spPr>
        <p:txBody>
          <a:bodyPr wrap="square" lIns="0" tIns="0" rIns="0" bIns="0" rtlCol="0" anchor="ctr"/>
          <a:lstStyle/>
          <a:p>
            <a:pPr indent="0" marL="0">
              <a:buNone/>
            </a:pPr>
            <a:r>
              <a:rPr lang="en-US" sz="1900" dirty="0">
                <a:solidFill>
                  <a:srgbClr val="FFFFFF"/>
                </a:solidFill>
              </a:rPr>
              <a:t>Offer a BOM, recruiting interview, or licensed agent meeting.</a:t>
            </a:r>
            <a:endParaRPr lang="en-US" sz="1900" dirty="0"/>
          </a:p>
        </p:txBody>
      </p:sp>
      <p:sp>
        <p:nvSpPr>
          <p:cNvPr id="10" name="Text 8"/>
          <p:cNvSpPr/>
          <p:nvPr/>
        </p:nvSpPr>
        <p:spPr>
          <a:xfrm>
            <a:off x="786384" y="3968496"/>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Record</a:t>
            </a:r>
            <a:endParaRPr lang="en-US" sz="1800" dirty="0"/>
          </a:p>
        </p:txBody>
      </p:sp>
      <p:sp>
        <p:nvSpPr>
          <p:cNvPr id="11" name="Text 9"/>
          <p:cNvSpPr/>
          <p:nvPr/>
        </p:nvSpPr>
        <p:spPr>
          <a:xfrm>
            <a:off x="3621024" y="3968496"/>
            <a:ext cx="7589520" cy="1024128"/>
          </a:xfrm>
          <a:prstGeom prst="rect">
            <a:avLst/>
          </a:prstGeom>
          <a:noFill/>
          <a:ln/>
        </p:spPr>
        <p:txBody>
          <a:bodyPr wrap="square" lIns="0" tIns="0" rIns="0" bIns="0" rtlCol="0" anchor="ctr"/>
          <a:lstStyle/>
          <a:p>
            <a:pPr indent="0" marL="0">
              <a:buNone/>
            </a:pPr>
            <a:r>
              <a:rPr lang="en-US" sz="1900" dirty="0">
                <a:solidFill>
                  <a:srgbClr val="FFFFFF"/>
                </a:solidFill>
              </a:rPr>
              <a:t>Capture source, interest, event, and permission to follow up.</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PHPU PT 3, p. 45.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Meet Alex: choose the next conversation</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AUDIENCE CHALLENGE</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5</a:t>
            </a:r>
            <a:endParaRPr lang="en-US" sz="1000" dirty="0"/>
          </a:p>
        </p:txBody>
      </p:sp>
      <p:sp>
        <p:nvSpPr>
          <p:cNvPr id="6" name="Text 4"/>
          <p:cNvSpPr/>
          <p:nvPr/>
        </p:nvSpPr>
        <p:spPr>
          <a:xfrm>
            <a:off x="731520" y="1554480"/>
            <a:ext cx="10607040" cy="1051560"/>
          </a:xfrm>
          <a:prstGeom prst="rect">
            <a:avLst/>
          </a:prstGeom>
          <a:noFill/>
          <a:ln/>
        </p:spPr>
        <p:txBody>
          <a:bodyPr wrap="square" lIns="0" tIns="0" rIns="0" bIns="0" rtlCol="0" anchor="ctr"/>
          <a:lstStyle/>
          <a:p>
            <a:pPr indent="0" marL="0">
              <a:buNone/>
            </a:pPr>
            <a:r>
              <a:rPr lang="en-US" sz="3000" b="1" dirty="0">
                <a:solidFill>
                  <a:srgbClr val="FFFFFF"/>
                </a:solidFill>
              </a:rPr>
              <a:t>Alex says: “I need extra income, but I know nothing about insurance.”</a:t>
            </a:r>
            <a:endParaRPr lang="en-US" sz="3000" dirty="0"/>
          </a:p>
        </p:txBody>
      </p:sp>
      <p:sp>
        <p:nvSpPr>
          <p:cNvPr id="7" name="Text 5"/>
          <p:cNvSpPr/>
          <p:nvPr/>
        </p:nvSpPr>
        <p:spPr>
          <a:xfrm>
            <a:off x="777240" y="283464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A</a:t>
            </a:r>
            <a:endParaRPr lang="en-US" sz="2800" dirty="0"/>
          </a:p>
        </p:txBody>
      </p:sp>
      <p:sp>
        <p:nvSpPr>
          <p:cNvPr id="8" name="Text 6"/>
          <p:cNvSpPr/>
          <p:nvPr/>
        </p:nvSpPr>
        <p:spPr>
          <a:xfrm>
            <a:off x="1417320" y="2834640"/>
            <a:ext cx="9692640" cy="594360"/>
          </a:xfrm>
          <a:prstGeom prst="rect">
            <a:avLst/>
          </a:prstGeom>
          <a:noFill/>
          <a:ln/>
        </p:spPr>
        <p:txBody>
          <a:bodyPr wrap="square" lIns="0" tIns="0" rIns="0" bIns="0" rtlCol="0" anchor="ctr"/>
          <a:lstStyle/>
          <a:p>
            <a:pPr indent="0" marL="0">
              <a:buNone/>
            </a:pPr>
            <a:r>
              <a:rPr lang="en-US" sz="2300" dirty="0">
                <a:solidFill>
                  <a:srgbClr val="FFFFFF"/>
                </a:solidFill>
              </a:rPr>
              <a:t>Give an income promise to get Alex excited.</a:t>
            </a:r>
            <a:endParaRPr lang="en-US" sz="2300" dirty="0"/>
          </a:p>
        </p:txBody>
      </p:sp>
      <p:sp>
        <p:nvSpPr>
          <p:cNvPr id="9" name="Text 7"/>
          <p:cNvSpPr/>
          <p:nvPr/>
        </p:nvSpPr>
        <p:spPr>
          <a:xfrm>
            <a:off x="777240" y="361188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B</a:t>
            </a:r>
            <a:endParaRPr lang="en-US" sz="2800" dirty="0"/>
          </a:p>
        </p:txBody>
      </p:sp>
      <p:sp>
        <p:nvSpPr>
          <p:cNvPr id="10" name="Text 8"/>
          <p:cNvSpPr/>
          <p:nvPr/>
        </p:nvSpPr>
        <p:spPr>
          <a:xfrm>
            <a:off x="1417320" y="3611880"/>
            <a:ext cx="9692640" cy="594360"/>
          </a:xfrm>
          <a:prstGeom prst="rect">
            <a:avLst/>
          </a:prstGeom>
          <a:noFill/>
          <a:ln/>
        </p:spPr>
        <p:txBody>
          <a:bodyPr wrap="square" lIns="0" tIns="0" rIns="0" bIns="0" rtlCol="0" anchor="ctr"/>
          <a:lstStyle/>
          <a:p>
            <a:pPr indent="0" marL="0">
              <a:buNone/>
            </a:pPr>
            <a:r>
              <a:rPr lang="en-US" sz="2300" dirty="0">
                <a:solidFill>
                  <a:srgbClr val="FFFFFF"/>
                </a:solidFill>
              </a:rPr>
              <a:t>Ask about Alex’s goals, then invite Alex to learn about the work.</a:t>
            </a:r>
            <a:endParaRPr lang="en-US" sz="2300" dirty="0"/>
          </a:p>
        </p:txBody>
      </p:sp>
      <p:sp>
        <p:nvSpPr>
          <p:cNvPr id="11" name="Text 9"/>
          <p:cNvSpPr/>
          <p:nvPr/>
        </p:nvSpPr>
        <p:spPr>
          <a:xfrm>
            <a:off x="777240" y="438912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C</a:t>
            </a:r>
            <a:endParaRPr lang="en-US" sz="2800" dirty="0"/>
          </a:p>
        </p:txBody>
      </p:sp>
      <p:sp>
        <p:nvSpPr>
          <p:cNvPr id="12" name="Text 10"/>
          <p:cNvSpPr/>
          <p:nvPr/>
        </p:nvSpPr>
        <p:spPr>
          <a:xfrm>
            <a:off x="1417320" y="4389120"/>
            <a:ext cx="9692640" cy="594360"/>
          </a:xfrm>
          <a:prstGeom prst="rect">
            <a:avLst/>
          </a:prstGeom>
          <a:noFill/>
          <a:ln/>
        </p:spPr>
        <p:txBody>
          <a:bodyPr wrap="square" lIns="0" tIns="0" rIns="0" bIns="0" rtlCol="0" anchor="ctr"/>
          <a:lstStyle/>
          <a:p>
            <a:pPr indent="0" marL="0">
              <a:buNone/>
            </a:pPr>
            <a:r>
              <a:rPr lang="en-US" sz="2300" dirty="0">
                <a:solidFill>
                  <a:srgbClr val="FFFFFF"/>
                </a:solidFill>
              </a:rPr>
              <a:t>Ask Alex to buy a policy before joining.</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Stage 2: Captain</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The captain owns the guest experience.</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6</a:t>
            </a:r>
            <a:endParaRPr lang="en-US" sz="1000" dirty="0"/>
          </a:p>
        </p:txBody>
      </p:sp>
      <p:sp>
        <p:nvSpPr>
          <p:cNvPr id="6" name="Text 4"/>
          <p:cNvSpPr/>
          <p:nvPr/>
        </p:nvSpPr>
        <p:spPr>
          <a:xfrm>
            <a:off x="786384" y="155448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Invite</a:t>
            </a:r>
            <a:endParaRPr lang="en-US" sz="1800" dirty="0"/>
          </a:p>
        </p:txBody>
      </p:sp>
      <p:sp>
        <p:nvSpPr>
          <p:cNvPr id="7" name="Text 5"/>
          <p:cNvSpPr/>
          <p:nvPr/>
        </p:nvSpPr>
        <p:spPr>
          <a:xfrm>
            <a:off x="3621024" y="1554480"/>
            <a:ext cx="7589520" cy="994410"/>
          </a:xfrm>
          <a:prstGeom prst="rect">
            <a:avLst/>
          </a:prstGeom>
          <a:noFill/>
          <a:ln/>
        </p:spPr>
        <p:txBody>
          <a:bodyPr wrap="square" lIns="0" tIns="0" rIns="0" bIns="0" rtlCol="0" anchor="ctr"/>
          <a:lstStyle/>
          <a:p>
            <a:pPr indent="0" marL="0">
              <a:buNone/>
            </a:pPr>
            <a:r>
              <a:rPr lang="en-US" sz="1900" dirty="0">
                <a:solidFill>
                  <a:srgbClr val="FFFFFF"/>
                </a:solidFill>
              </a:rPr>
              <a:t>Build a list and invite with a specific date, time, and reason.</a:t>
            </a:r>
            <a:endParaRPr lang="en-US" sz="1900" dirty="0"/>
          </a:p>
        </p:txBody>
      </p:sp>
      <p:sp>
        <p:nvSpPr>
          <p:cNvPr id="8" name="Text 6"/>
          <p:cNvSpPr/>
          <p:nvPr/>
        </p:nvSpPr>
        <p:spPr>
          <a:xfrm>
            <a:off x="786384" y="273177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Confirm</a:t>
            </a:r>
            <a:endParaRPr lang="en-US" sz="1800" dirty="0"/>
          </a:p>
        </p:txBody>
      </p:sp>
      <p:sp>
        <p:nvSpPr>
          <p:cNvPr id="9" name="Text 7"/>
          <p:cNvSpPr/>
          <p:nvPr/>
        </p:nvSpPr>
        <p:spPr>
          <a:xfrm>
            <a:off x="3621024" y="2731770"/>
            <a:ext cx="7589520" cy="994410"/>
          </a:xfrm>
          <a:prstGeom prst="rect">
            <a:avLst/>
          </a:prstGeom>
          <a:noFill/>
          <a:ln/>
        </p:spPr>
        <p:txBody>
          <a:bodyPr wrap="square" lIns="0" tIns="0" rIns="0" bIns="0" rtlCol="0" anchor="ctr"/>
          <a:lstStyle/>
          <a:p>
            <a:pPr indent="0" marL="0">
              <a:buNone/>
            </a:pPr>
            <a:r>
              <a:rPr lang="en-US" sz="1900" dirty="0">
                <a:solidFill>
                  <a:srgbClr val="FFFFFF"/>
                </a:solidFill>
              </a:rPr>
              <a:t>Send details and confirm attendance before the event.</a:t>
            </a:r>
            <a:endParaRPr lang="en-US" sz="1900" dirty="0"/>
          </a:p>
        </p:txBody>
      </p:sp>
      <p:sp>
        <p:nvSpPr>
          <p:cNvPr id="10" name="Text 8"/>
          <p:cNvSpPr/>
          <p:nvPr/>
        </p:nvSpPr>
        <p:spPr>
          <a:xfrm>
            <a:off x="786384" y="390906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Host</a:t>
            </a:r>
            <a:endParaRPr lang="en-US" sz="1800" dirty="0"/>
          </a:p>
        </p:txBody>
      </p:sp>
      <p:sp>
        <p:nvSpPr>
          <p:cNvPr id="11" name="Text 9"/>
          <p:cNvSpPr/>
          <p:nvPr/>
        </p:nvSpPr>
        <p:spPr>
          <a:xfrm>
            <a:off x="3621024" y="3909060"/>
            <a:ext cx="7589520" cy="994410"/>
          </a:xfrm>
          <a:prstGeom prst="rect">
            <a:avLst/>
          </a:prstGeom>
          <a:noFill/>
          <a:ln/>
        </p:spPr>
        <p:txBody>
          <a:bodyPr wrap="square" lIns="0" tIns="0" rIns="0" bIns="0" rtlCol="0" anchor="ctr"/>
          <a:lstStyle/>
          <a:p>
            <a:pPr indent="0" marL="0">
              <a:buNone/>
            </a:pPr>
            <a:r>
              <a:rPr lang="en-US" sz="1900" dirty="0">
                <a:solidFill>
                  <a:srgbClr val="FFFFFF"/>
                </a:solidFill>
              </a:rPr>
              <a:t>Welcome the guest, make introductions, and learn what resonated.</a:t>
            </a:r>
            <a:endParaRPr lang="en-US" sz="1900" dirty="0"/>
          </a:p>
        </p:txBody>
      </p:sp>
      <p:sp>
        <p:nvSpPr>
          <p:cNvPr id="12" name="Text 10"/>
          <p:cNvSpPr/>
          <p:nvPr/>
        </p:nvSpPr>
        <p:spPr>
          <a:xfrm>
            <a:off x="786384" y="508635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Follow up</a:t>
            </a:r>
            <a:endParaRPr lang="en-US" sz="1800" dirty="0"/>
          </a:p>
        </p:txBody>
      </p:sp>
      <p:sp>
        <p:nvSpPr>
          <p:cNvPr id="13" name="Text 11"/>
          <p:cNvSpPr/>
          <p:nvPr/>
        </p:nvSpPr>
        <p:spPr>
          <a:xfrm>
            <a:off x="3621024" y="5086350"/>
            <a:ext cx="7589520" cy="994410"/>
          </a:xfrm>
          <a:prstGeom prst="rect">
            <a:avLst/>
          </a:prstGeom>
          <a:noFill/>
          <a:ln/>
        </p:spPr>
        <p:txBody>
          <a:bodyPr wrap="square" lIns="0" tIns="0" rIns="0" bIns="0" rtlCol="0" anchor="ctr"/>
          <a:lstStyle/>
          <a:p>
            <a:pPr indent="0" marL="0">
              <a:buNone/>
            </a:pPr>
            <a:r>
              <a:rPr lang="en-US" sz="1900" dirty="0">
                <a:solidFill>
                  <a:srgbClr val="FFFFFF"/>
                </a:solidFill>
              </a:rPr>
              <a:t>Book the next conversation or respect a decision to decline.</a:t>
            </a:r>
            <a:endParaRPr lang="en-US" sz="1900" dirty="0"/>
          </a:p>
        </p:txBody>
      </p:sp>
      <p:sp>
        <p:nvSpPr>
          <p:cNvPr id="14" name="Text 12"/>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PHPU PT 3, p. 41.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Stage 3: Guest</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Attendance is a chance to learn, not a commitment to join.</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7</a:t>
            </a:r>
            <a:endParaRPr lang="en-US" sz="1000" dirty="0"/>
          </a:p>
        </p:txBody>
      </p:sp>
      <p:sp>
        <p:nvSpPr>
          <p:cNvPr id="6" name="Text 4"/>
          <p:cNvSpPr/>
          <p:nvPr/>
        </p:nvSpPr>
        <p:spPr>
          <a:xfrm>
            <a:off x="786384" y="1554480"/>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Before</a:t>
            </a:r>
            <a:endParaRPr lang="en-US" sz="1800" dirty="0"/>
          </a:p>
        </p:txBody>
      </p:sp>
      <p:sp>
        <p:nvSpPr>
          <p:cNvPr id="7" name="Text 5"/>
          <p:cNvSpPr/>
          <p:nvPr/>
        </p:nvSpPr>
        <p:spPr>
          <a:xfrm>
            <a:off x="3621024" y="1554480"/>
            <a:ext cx="7589520" cy="1024128"/>
          </a:xfrm>
          <a:prstGeom prst="rect">
            <a:avLst/>
          </a:prstGeom>
          <a:noFill/>
          <a:ln/>
        </p:spPr>
        <p:txBody>
          <a:bodyPr wrap="square" lIns="0" tIns="0" rIns="0" bIns="0" rtlCol="0" anchor="ctr"/>
          <a:lstStyle/>
          <a:p>
            <a:pPr indent="0" marL="0">
              <a:buNone/>
            </a:pPr>
            <a:r>
              <a:rPr lang="en-US" sz="1900" dirty="0">
                <a:solidFill>
                  <a:srgbClr val="FFFFFF"/>
                </a:solidFill>
              </a:rPr>
              <a:t>Know why the person is coming and what question they want answered.</a:t>
            </a:r>
            <a:endParaRPr lang="en-US" sz="1900" dirty="0"/>
          </a:p>
        </p:txBody>
      </p:sp>
      <p:sp>
        <p:nvSpPr>
          <p:cNvPr id="8" name="Text 6"/>
          <p:cNvSpPr/>
          <p:nvPr/>
        </p:nvSpPr>
        <p:spPr>
          <a:xfrm>
            <a:off x="786384" y="2761488"/>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During</a:t>
            </a:r>
            <a:endParaRPr lang="en-US" sz="1800" dirty="0"/>
          </a:p>
        </p:txBody>
      </p:sp>
      <p:sp>
        <p:nvSpPr>
          <p:cNvPr id="9" name="Text 7"/>
          <p:cNvSpPr/>
          <p:nvPr/>
        </p:nvSpPr>
        <p:spPr>
          <a:xfrm>
            <a:off x="3621024" y="2761488"/>
            <a:ext cx="7589520" cy="1024128"/>
          </a:xfrm>
          <a:prstGeom prst="rect">
            <a:avLst/>
          </a:prstGeom>
          <a:noFill/>
          <a:ln/>
        </p:spPr>
        <p:txBody>
          <a:bodyPr wrap="square" lIns="0" tIns="0" rIns="0" bIns="0" rtlCol="0" anchor="ctr"/>
          <a:lstStyle/>
          <a:p>
            <a:pPr indent="0" marL="0">
              <a:buNone/>
            </a:pPr>
            <a:r>
              <a:rPr lang="en-US" sz="1900" dirty="0">
                <a:solidFill>
                  <a:srgbClr val="FFFFFF"/>
                </a:solidFill>
              </a:rPr>
              <a:t>Introduce the team and let them hear the opportunity clearly.</a:t>
            </a:r>
            <a:endParaRPr lang="en-US" sz="1900" dirty="0"/>
          </a:p>
        </p:txBody>
      </p:sp>
      <p:sp>
        <p:nvSpPr>
          <p:cNvPr id="10" name="Text 8"/>
          <p:cNvSpPr/>
          <p:nvPr/>
        </p:nvSpPr>
        <p:spPr>
          <a:xfrm>
            <a:off x="786384" y="3968496"/>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After</a:t>
            </a:r>
            <a:endParaRPr lang="en-US" sz="1800" dirty="0"/>
          </a:p>
        </p:txBody>
      </p:sp>
      <p:sp>
        <p:nvSpPr>
          <p:cNvPr id="11" name="Text 9"/>
          <p:cNvSpPr/>
          <p:nvPr/>
        </p:nvSpPr>
        <p:spPr>
          <a:xfrm>
            <a:off x="3621024" y="3968496"/>
            <a:ext cx="7589520" cy="1024128"/>
          </a:xfrm>
          <a:prstGeom prst="rect">
            <a:avLst/>
          </a:prstGeom>
          <a:noFill/>
          <a:ln/>
        </p:spPr>
        <p:txBody>
          <a:bodyPr wrap="square" lIns="0" tIns="0" rIns="0" bIns="0" rtlCol="0" anchor="ctr"/>
          <a:lstStyle/>
          <a:p>
            <a:pPr indent="0" marL="0">
              <a:buNone/>
            </a:pPr>
            <a:r>
              <a:rPr lang="en-US" sz="1900" dirty="0">
                <a:solidFill>
                  <a:srgbClr val="FFFFFF"/>
                </a:solidFill>
              </a:rPr>
              <a:t>Ask what stood out, then offer one suitable next step.</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PHPU PT 3, p. 41.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Alex arrives: what happens next?</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AUDIENCE CHALLENGE</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8</a:t>
            </a:r>
            <a:endParaRPr lang="en-US" sz="1000" dirty="0"/>
          </a:p>
        </p:txBody>
      </p:sp>
      <p:sp>
        <p:nvSpPr>
          <p:cNvPr id="6" name="Text 4"/>
          <p:cNvSpPr/>
          <p:nvPr/>
        </p:nvSpPr>
        <p:spPr>
          <a:xfrm>
            <a:off x="731520" y="1554480"/>
            <a:ext cx="10607040" cy="1051560"/>
          </a:xfrm>
          <a:prstGeom prst="rect">
            <a:avLst/>
          </a:prstGeom>
          <a:noFill/>
          <a:ln/>
        </p:spPr>
        <p:txBody>
          <a:bodyPr wrap="square" lIns="0" tIns="0" rIns="0" bIns="0" rtlCol="0" anchor="ctr"/>
          <a:lstStyle/>
          <a:p>
            <a:pPr indent="0" marL="0">
              <a:buNone/>
            </a:pPr>
            <a:r>
              <a:rPr lang="en-US" sz="3000" b="1" dirty="0">
                <a:solidFill>
                  <a:srgbClr val="FFFFFF"/>
                </a:solidFill>
              </a:rPr>
              <a:t>Alex enjoyed BOM and asks, “How do I get started?”</a:t>
            </a:r>
            <a:endParaRPr lang="en-US" sz="3000" dirty="0"/>
          </a:p>
        </p:txBody>
      </p:sp>
      <p:sp>
        <p:nvSpPr>
          <p:cNvPr id="7" name="Text 5"/>
          <p:cNvSpPr/>
          <p:nvPr/>
        </p:nvSpPr>
        <p:spPr>
          <a:xfrm>
            <a:off x="777240" y="283464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A</a:t>
            </a:r>
            <a:endParaRPr lang="en-US" sz="2800" dirty="0"/>
          </a:p>
        </p:txBody>
      </p:sp>
      <p:sp>
        <p:nvSpPr>
          <p:cNvPr id="8" name="Text 6"/>
          <p:cNvSpPr/>
          <p:nvPr/>
        </p:nvSpPr>
        <p:spPr>
          <a:xfrm>
            <a:off x="1417320" y="2834640"/>
            <a:ext cx="9692640" cy="594360"/>
          </a:xfrm>
          <a:prstGeom prst="rect">
            <a:avLst/>
          </a:prstGeom>
          <a:noFill/>
          <a:ln/>
        </p:spPr>
        <p:txBody>
          <a:bodyPr wrap="square" lIns="0" tIns="0" rIns="0" bIns="0" rtlCol="0" anchor="ctr"/>
          <a:lstStyle/>
          <a:p>
            <a:pPr indent="0" marL="0">
              <a:buNone/>
            </a:pPr>
            <a:r>
              <a:rPr lang="en-US" sz="2300" dirty="0">
                <a:solidFill>
                  <a:srgbClr val="FFFFFF"/>
                </a:solidFill>
              </a:rPr>
              <a:t>Send a sign-up link and wait for Alex to contact you.</a:t>
            </a:r>
            <a:endParaRPr lang="en-US" sz="2300" dirty="0"/>
          </a:p>
        </p:txBody>
      </p:sp>
      <p:sp>
        <p:nvSpPr>
          <p:cNvPr id="9" name="Text 7"/>
          <p:cNvSpPr/>
          <p:nvPr/>
        </p:nvSpPr>
        <p:spPr>
          <a:xfrm>
            <a:off x="777240" y="361188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B</a:t>
            </a:r>
            <a:endParaRPr lang="en-US" sz="2800" dirty="0"/>
          </a:p>
        </p:txBody>
      </p:sp>
      <p:sp>
        <p:nvSpPr>
          <p:cNvPr id="10" name="Text 8"/>
          <p:cNvSpPr/>
          <p:nvPr/>
        </p:nvSpPr>
        <p:spPr>
          <a:xfrm>
            <a:off x="1417320" y="3611880"/>
            <a:ext cx="9692640" cy="594360"/>
          </a:xfrm>
          <a:prstGeom prst="rect">
            <a:avLst/>
          </a:prstGeom>
          <a:noFill/>
          <a:ln/>
        </p:spPr>
        <p:txBody>
          <a:bodyPr wrap="square" lIns="0" tIns="0" rIns="0" bIns="0" rtlCol="0" anchor="ctr"/>
          <a:lstStyle/>
          <a:p>
            <a:pPr indent="0" marL="0">
              <a:buNone/>
            </a:pPr>
            <a:r>
              <a:rPr lang="en-US" sz="2300" dirty="0">
                <a:solidFill>
                  <a:srgbClr val="FFFFFF"/>
                </a:solidFill>
              </a:rPr>
              <a:t>Explain the work and next steps, then book orientation with a trainer.</a:t>
            </a:r>
            <a:endParaRPr lang="en-US" sz="2300" dirty="0"/>
          </a:p>
        </p:txBody>
      </p:sp>
      <p:sp>
        <p:nvSpPr>
          <p:cNvPr id="11" name="Text 9"/>
          <p:cNvSpPr/>
          <p:nvPr/>
        </p:nvSpPr>
        <p:spPr>
          <a:xfrm>
            <a:off x="777240" y="438912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C</a:t>
            </a:r>
            <a:endParaRPr lang="en-US" sz="2800" dirty="0"/>
          </a:p>
        </p:txBody>
      </p:sp>
      <p:sp>
        <p:nvSpPr>
          <p:cNvPr id="12" name="Text 10"/>
          <p:cNvSpPr/>
          <p:nvPr/>
        </p:nvSpPr>
        <p:spPr>
          <a:xfrm>
            <a:off x="1417320" y="4389120"/>
            <a:ext cx="9692640" cy="594360"/>
          </a:xfrm>
          <a:prstGeom prst="rect">
            <a:avLst/>
          </a:prstGeom>
          <a:noFill/>
          <a:ln/>
        </p:spPr>
        <p:txBody>
          <a:bodyPr wrap="square" lIns="0" tIns="0" rIns="0" bIns="0" rtlCol="0" anchor="ctr"/>
          <a:lstStyle/>
          <a:p>
            <a:pPr indent="0" marL="0">
              <a:buNone/>
            </a:pPr>
            <a:r>
              <a:rPr lang="en-US" sz="2300" dirty="0">
                <a:solidFill>
                  <a:srgbClr val="FFFFFF"/>
                </a:solidFill>
              </a:rPr>
              <a:t>Ask Alex to invite ten people before answering questions.</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Stage 4: Recruit</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 start creates a training responsibility.</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9</a:t>
            </a:r>
            <a:endParaRPr lang="en-US" sz="1000" dirty="0"/>
          </a:p>
        </p:txBody>
      </p:sp>
      <p:sp>
        <p:nvSpPr>
          <p:cNvPr id="6" name="Text 4"/>
          <p:cNvSpPr/>
          <p:nvPr/>
        </p:nvSpPr>
        <p:spPr>
          <a:xfrm>
            <a:off x="786384" y="1554480"/>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Orient</a:t>
            </a:r>
            <a:endParaRPr lang="en-US" sz="1800" dirty="0"/>
          </a:p>
        </p:txBody>
      </p:sp>
      <p:sp>
        <p:nvSpPr>
          <p:cNvPr id="7" name="Text 5"/>
          <p:cNvSpPr/>
          <p:nvPr/>
        </p:nvSpPr>
        <p:spPr>
          <a:xfrm>
            <a:off x="3621024" y="1554480"/>
            <a:ext cx="7589520" cy="1024128"/>
          </a:xfrm>
          <a:prstGeom prst="rect">
            <a:avLst/>
          </a:prstGeom>
          <a:noFill/>
          <a:ln/>
        </p:spPr>
        <p:txBody>
          <a:bodyPr wrap="square" lIns="0" tIns="0" rIns="0" bIns="0" rtlCol="0" anchor="ctr"/>
          <a:lstStyle/>
          <a:p>
            <a:pPr indent="0" marL="0">
              <a:buNone/>
            </a:pPr>
            <a:r>
              <a:rPr lang="en-US" sz="1900" dirty="0">
                <a:solidFill>
                  <a:srgbClr val="FFFFFF"/>
                </a:solidFill>
              </a:rPr>
              <a:t>Explain the work, fees, licensing path, and realistic expectations.</a:t>
            </a:r>
            <a:endParaRPr lang="en-US" sz="1900" dirty="0"/>
          </a:p>
        </p:txBody>
      </p:sp>
      <p:sp>
        <p:nvSpPr>
          <p:cNvPr id="8" name="Text 6"/>
          <p:cNvSpPr/>
          <p:nvPr/>
        </p:nvSpPr>
        <p:spPr>
          <a:xfrm>
            <a:off x="786384" y="2761488"/>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Fast Start</a:t>
            </a:r>
            <a:endParaRPr lang="en-US" sz="1800" dirty="0"/>
          </a:p>
        </p:txBody>
      </p:sp>
      <p:sp>
        <p:nvSpPr>
          <p:cNvPr id="9" name="Text 7"/>
          <p:cNvSpPr/>
          <p:nvPr/>
        </p:nvSpPr>
        <p:spPr>
          <a:xfrm>
            <a:off x="3621024" y="2761488"/>
            <a:ext cx="7589520" cy="1024128"/>
          </a:xfrm>
          <a:prstGeom prst="rect">
            <a:avLst/>
          </a:prstGeom>
          <a:noFill/>
          <a:ln/>
        </p:spPr>
        <p:txBody>
          <a:bodyPr wrap="square" lIns="0" tIns="0" rIns="0" bIns="0" rtlCol="0" anchor="ctr"/>
          <a:lstStyle/>
          <a:p>
            <a:pPr indent="0" marL="0">
              <a:buNone/>
            </a:pPr>
            <a:r>
              <a:rPr lang="en-US" sz="1900" dirty="0">
                <a:solidFill>
                  <a:srgbClr val="FFFFFF"/>
                </a:solidFill>
              </a:rPr>
              <a:t>Make a list, schedule training, and practice invitations.</a:t>
            </a:r>
            <a:endParaRPr lang="en-US" sz="1900" dirty="0"/>
          </a:p>
        </p:txBody>
      </p:sp>
      <p:sp>
        <p:nvSpPr>
          <p:cNvPr id="10" name="Text 8"/>
          <p:cNvSpPr/>
          <p:nvPr/>
        </p:nvSpPr>
        <p:spPr>
          <a:xfrm>
            <a:off x="786384" y="3968496"/>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Develop</a:t>
            </a:r>
            <a:endParaRPr lang="en-US" sz="1800" dirty="0"/>
          </a:p>
        </p:txBody>
      </p:sp>
      <p:sp>
        <p:nvSpPr>
          <p:cNvPr id="11" name="Text 9"/>
          <p:cNvSpPr/>
          <p:nvPr/>
        </p:nvSpPr>
        <p:spPr>
          <a:xfrm>
            <a:off x="3621024" y="3968496"/>
            <a:ext cx="7589520" cy="1024128"/>
          </a:xfrm>
          <a:prstGeom prst="rect">
            <a:avLst/>
          </a:prstGeom>
          <a:noFill/>
          <a:ln/>
        </p:spPr>
        <p:txBody>
          <a:bodyPr wrap="square" lIns="0" tIns="0" rIns="0" bIns="0" rtlCol="0" anchor="ctr"/>
          <a:lstStyle/>
          <a:p>
            <a:pPr indent="0" marL="0">
              <a:buNone/>
            </a:pPr>
            <a:r>
              <a:rPr lang="en-US" sz="1900" dirty="0">
                <a:solidFill>
                  <a:srgbClr val="FFFFFF"/>
                </a:solidFill>
              </a:rPr>
              <a:t>Match with a trainer; measure attendance, licensing, and activity.</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MPBS 2023, support roles; PHP Agency 2022 Income Disclosure.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Stage 5: Client</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 recruit or guest may also be a client, if there is a genuine need.</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10</a:t>
            </a:r>
            <a:endParaRPr lang="en-US" sz="1000" dirty="0"/>
          </a:p>
        </p:txBody>
      </p:sp>
      <p:sp>
        <p:nvSpPr>
          <p:cNvPr id="6" name="Text 4"/>
          <p:cNvSpPr/>
          <p:nvPr/>
        </p:nvSpPr>
        <p:spPr>
          <a:xfrm>
            <a:off x="786384" y="1554480"/>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Learn needs</a:t>
            </a:r>
            <a:endParaRPr lang="en-US" sz="1800" dirty="0"/>
          </a:p>
        </p:txBody>
      </p:sp>
      <p:sp>
        <p:nvSpPr>
          <p:cNvPr id="7" name="Text 5"/>
          <p:cNvSpPr/>
          <p:nvPr/>
        </p:nvSpPr>
        <p:spPr>
          <a:xfrm>
            <a:off x="3621024" y="1554480"/>
            <a:ext cx="7589520" cy="1024128"/>
          </a:xfrm>
          <a:prstGeom prst="rect">
            <a:avLst/>
          </a:prstGeom>
          <a:noFill/>
          <a:ln/>
        </p:spPr>
        <p:txBody>
          <a:bodyPr wrap="square" lIns="0" tIns="0" rIns="0" bIns="0" rtlCol="0" anchor="ctr"/>
          <a:lstStyle/>
          <a:p>
            <a:pPr indent="0" marL="0">
              <a:buNone/>
            </a:pPr>
            <a:r>
              <a:rPr lang="en-US" sz="1900" dirty="0">
                <a:solidFill>
                  <a:srgbClr val="FFFFFF"/>
                </a:solidFill>
              </a:rPr>
              <a:t>A licensed agent conducts the financial needs conversation.</a:t>
            </a:r>
            <a:endParaRPr lang="en-US" sz="1900" dirty="0"/>
          </a:p>
        </p:txBody>
      </p:sp>
      <p:sp>
        <p:nvSpPr>
          <p:cNvPr id="8" name="Text 6"/>
          <p:cNvSpPr/>
          <p:nvPr/>
        </p:nvSpPr>
        <p:spPr>
          <a:xfrm>
            <a:off x="786384" y="2761488"/>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Recommend</a:t>
            </a:r>
            <a:endParaRPr lang="en-US" sz="1800" dirty="0"/>
          </a:p>
        </p:txBody>
      </p:sp>
      <p:sp>
        <p:nvSpPr>
          <p:cNvPr id="9" name="Text 7"/>
          <p:cNvSpPr/>
          <p:nvPr/>
        </p:nvSpPr>
        <p:spPr>
          <a:xfrm>
            <a:off x="3621024" y="2761488"/>
            <a:ext cx="7589520" cy="1024128"/>
          </a:xfrm>
          <a:prstGeom prst="rect">
            <a:avLst/>
          </a:prstGeom>
          <a:noFill/>
          <a:ln/>
        </p:spPr>
        <p:txBody>
          <a:bodyPr wrap="square" lIns="0" tIns="0" rIns="0" bIns="0" rtlCol="0" anchor="ctr"/>
          <a:lstStyle/>
          <a:p>
            <a:pPr indent="0" marL="0">
              <a:buNone/>
            </a:pPr>
            <a:r>
              <a:rPr lang="en-US" sz="1900" dirty="0">
                <a:solidFill>
                  <a:srgbClr val="FFFFFF"/>
                </a:solidFill>
              </a:rPr>
              <a:t>Match a suitable product to the client’s goals and budget.</a:t>
            </a:r>
            <a:endParaRPr lang="en-US" sz="1900" dirty="0"/>
          </a:p>
        </p:txBody>
      </p:sp>
      <p:sp>
        <p:nvSpPr>
          <p:cNvPr id="10" name="Text 8"/>
          <p:cNvSpPr/>
          <p:nvPr/>
        </p:nvSpPr>
        <p:spPr>
          <a:xfrm>
            <a:off x="786384" y="3968496"/>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Serve</a:t>
            </a:r>
            <a:endParaRPr lang="en-US" sz="1800" dirty="0"/>
          </a:p>
        </p:txBody>
      </p:sp>
      <p:sp>
        <p:nvSpPr>
          <p:cNvPr id="11" name="Text 9"/>
          <p:cNvSpPr/>
          <p:nvPr/>
        </p:nvSpPr>
        <p:spPr>
          <a:xfrm>
            <a:off x="3621024" y="3968496"/>
            <a:ext cx="7589520" cy="1024128"/>
          </a:xfrm>
          <a:prstGeom prst="rect">
            <a:avLst/>
          </a:prstGeom>
          <a:noFill/>
          <a:ln/>
        </p:spPr>
        <p:txBody>
          <a:bodyPr wrap="square" lIns="0" tIns="0" rIns="0" bIns="0" rtlCol="0" anchor="ctr"/>
          <a:lstStyle/>
          <a:p>
            <a:pPr indent="0" marL="0">
              <a:buNone/>
            </a:pPr>
            <a:r>
              <a:rPr lang="en-US" sz="1900" dirty="0">
                <a:solidFill>
                  <a:srgbClr val="FFFFFF"/>
                </a:solidFill>
              </a:rPr>
              <a:t>Follow through on applications, placement, and ongoing service.</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PHP Agency 2022 Income Disclosure; MPBS 2023, field trainer section.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Client, recruit, both, or neither?</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AUDIENCE CHALLENGE</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11</a:t>
            </a:r>
            <a:endParaRPr lang="en-US" sz="1000" dirty="0"/>
          </a:p>
        </p:txBody>
      </p:sp>
      <p:sp>
        <p:nvSpPr>
          <p:cNvPr id="6" name="Text 4"/>
          <p:cNvSpPr/>
          <p:nvPr/>
        </p:nvSpPr>
        <p:spPr>
          <a:xfrm>
            <a:off x="731520" y="1554480"/>
            <a:ext cx="10607040" cy="1051560"/>
          </a:xfrm>
          <a:prstGeom prst="rect">
            <a:avLst/>
          </a:prstGeom>
          <a:noFill/>
          <a:ln/>
        </p:spPr>
        <p:txBody>
          <a:bodyPr wrap="square" lIns="0" tIns="0" rIns="0" bIns="0" rtlCol="0" anchor="ctr"/>
          <a:lstStyle/>
          <a:p>
            <a:pPr indent="0" marL="0">
              <a:buNone/>
            </a:pPr>
            <a:r>
              <a:rPr lang="en-US" sz="3000" b="1" dirty="0">
                <a:solidFill>
                  <a:srgbClr val="FFFFFF"/>
                </a:solidFill>
              </a:rPr>
              <a:t>Alex’s friend Maya wants family protection and is curious about the career.</a:t>
            </a:r>
            <a:endParaRPr lang="en-US" sz="3000" dirty="0"/>
          </a:p>
        </p:txBody>
      </p:sp>
      <p:sp>
        <p:nvSpPr>
          <p:cNvPr id="7" name="Text 5"/>
          <p:cNvSpPr/>
          <p:nvPr/>
        </p:nvSpPr>
        <p:spPr>
          <a:xfrm>
            <a:off x="777240" y="283464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A</a:t>
            </a:r>
            <a:endParaRPr lang="en-US" sz="2800" dirty="0"/>
          </a:p>
        </p:txBody>
      </p:sp>
      <p:sp>
        <p:nvSpPr>
          <p:cNvPr id="8" name="Text 6"/>
          <p:cNvSpPr/>
          <p:nvPr/>
        </p:nvSpPr>
        <p:spPr>
          <a:xfrm>
            <a:off x="1417320" y="2834640"/>
            <a:ext cx="9692640" cy="594360"/>
          </a:xfrm>
          <a:prstGeom prst="rect">
            <a:avLst/>
          </a:prstGeom>
          <a:noFill/>
          <a:ln/>
        </p:spPr>
        <p:txBody>
          <a:bodyPr wrap="square" lIns="0" tIns="0" rIns="0" bIns="0" rtlCol="0" anchor="ctr"/>
          <a:lstStyle/>
          <a:p>
            <a:pPr indent="0" marL="0">
              <a:buNone/>
            </a:pPr>
            <a:r>
              <a:rPr lang="en-US" sz="2300" dirty="0">
                <a:solidFill>
                  <a:srgbClr val="FFFFFF"/>
                </a:solidFill>
              </a:rPr>
              <a:t>A client conversation with a licensed agent.</a:t>
            </a:r>
            <a:endParaRPr lang="en-US" sz="2300" dirty="0"/>
          </a:p>
        </p:txBody>
      </p:sp>
      <p:sp>
        <p:nvSpPr>
          <p:cNvPr id="9" name="Text 7"/>
          <p:cNvSpPr/>
          <p:nvPr/>
        </p:nvSpPr>
        <p:spPr>
          <a:xfrm>
            <a:off x="777240" y="361188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B</a:t>
            </a:r>
            <a:endParaRPr lang="en-US" sz="2800" dirty="0"/>
          </a:p>
        </p:txBody>
      </p:sp>
      <p:sp>
        <p:nvSpPr>
          <p:cNvPr id="10" name="Text 8"/>
          <p:cNvSpPr/>
          <p:nvPr/>
        </p:nvSpPr>
        <p:spPr>
          <a:xfrm>
            <a:off x="1417320" y="3611880"/>
            <a:ext cx="9692640" cy="594360"/>
          </a:xfrm>
          <a:prstGeom prst="rect">
            <a:avLst/>
          </a:prstGeom>
          <a:noFill/>
          <a:ln/>
        </p:spPr>
        <p:txBody>
          <a:bodyPr wrap="square" lIns="0" tIns="0" rIns="0" bIns="0" rtlCol="0" anchor="ctr"/>
          <a:lstStyle/>
          <a:p>
            <a:pPr indent="0" marL="0">
              <a:buNone/>
            </a:pPr>
            <a:r>
              <a:rPr lang="en-US" sz="2300" dirty="0">
                <a:solidFill>
                  <a:srgbClr val="FFFFFF"/>
                </a:solidFill>
              </a:rPr>
              <a:t>A recruiting interview about the work.</a:t>
            </a:r>
            <a:endParaRPr lang="en-US" sz="2300" dirty="0"/>
          </a:p>
        </p:txBody>
      </p:sp>
      <p:sp>
        <p:nvSpPr>
          <p:cNvPr id="11" name="Text 9"/>
          <p:cNvSpPr/>
          <p:nvPr/>
        </p:nvSpPr>
        <p:spPr>
          <a:xfrm>
            <a:off x="777240" y="438912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C</a:t>
            </a:r>
            <a:endParaRPr lang="en-US" sz="2800" dirty="0"/>
          </a:p>
        </p:txBody>
      </p:sp>
      <p:sp>
        <p:nvSpPr>
          <p:cNvPr id="12" name="Text 10"/>
          <p:cNvSpPr/>
          <p:nvPr/>
        </p:nvSpPr>
        <p:spPr>
          <a:xfrm>
            <a:off x="1417320" y="4389120"/>
            <a:ext cx="9692640" cy="594360"/>
          </a:xfrm>
          <a:prstGeom prst="rect">
            <a:avLst/>
          </a:prstGeom>
          <a:noFill/>
          <a:ln/>
        </p:spPr>
        <p:txBody>
          <a:bodyPr wrap="square" lIns="0" tIns="0" rIns="0" bIns="0" rtlCol="0" anchor="ctr"/>
          <a:lstStyle/>
          <a:p>
            <a:pPr indent="0" marL="0">
              <a:buNone/>
            </a:pPr>
            <a:r>
              <a:rPr lang="en-US" sz="2300" dirty="0">
                <a:solidFill>
                  <a:srgbClr val="FFFFFF"/>
                </a:solidFill>
              </a:rPr>
              <a:t>Both conversations, with separate voluntary decisions.</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Stage 6: Income</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Compensation follows eligible product business.</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12</a:t>
            </a:r>
            <a:endParaRPr lang="en-US" sz="1000" dirty="0"/>
          </a:p>
        </p:txBody>
      </p:sp>
      <p:sp>
        <p:nvSpPr>
          <p:cNvPr id="6" name="Text 4"/>
          <p:cNvSpPr/>
          <p:nvPr/>
        </p:nvSpPr>
        <p:spPr>
          <a:xfrm>
            <a:off x="786384" y="1554480"/>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Personal commission</a:t>
            </a:r>
            <a:endParaRPr lang="en-US" sz="1800" dirty="0"/>
          </a:p>
        </p:txBody>
      </p:sp>
      <p:sp>
        <p:nvSpPr>
          <p:cNvPr id="7" name="Text 5"/>
          <p:cNvSpPr/>
          <p:nvPr/>
        </p:nvSpPr>
        <p:spPr>
          <a:xfrm>
            <a:off x="3621024" y="1554480"/>
            <a:ext cx="7589520" cy="1024128"/>
          </a:xfrm>
          <a:prstGeom prst="rect">
            <a:avLst/>
          </a:prstGeom>
          <a:noFill/>
          <a:ln/>
        </p:spPr>
        <p:txBody>
          <a:bodyPr wrap="square" lIns="0" tIns="0" rIns="0" bIns="0" rtlCol="0" anchor="ctr"/>
          <a:lstStyle/>
          <a:p>
            <a:pPr indent="0" marL="0">
              <a:buNone/>
            </a:pPr>
            <a:r>
              <a:rPr lang="en-US" sz="1900" dirty="0">
                <a:solidFill>
                  <a:srgbClr val="FFFFFF"/>
                </a:solidFill>
              </a:rPr>
              <a:t>A licensed agent may earn when qualifying business is placed.</a:t>
            </a:r>
            <a:endParaRPr lang="en-US" sz="1900" dirty="0"/>
          </a:p>
        </p:txBody>
      </p:sp>
      <p:sp>
        <p:nvSpPr>
          <p:cNvPr id="8" name="Text 6"/>
          <p:cNvSpPr/>
          <p:nvPr/>
        </p:nvSpPr>
        <p:spPr>
          <a:xfrm>
            <a:off x="786384" y="2761488"/>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Team override</a:t>
            </a:r>
            <a:endParaRPr lang="en-US" sz="1800" dirty="0"/>
          </a:p>
        </p:txBody>
      </p:sp>
      <p:sp>
        <p:nvSpPr>
          <p:cNvPr id="9" name="Text 7"/>
          <p:cNvSpPr/>
          <p:nvPr/>
        </p:nvSpPr>
        <p:spPr>
          <a:xfrm>
            <a:off x="3621024" y="2761488"/>
            <a:ext cx="7589520" cy="1024128"/>
          </a:xfrm>
          <a:prstGeom prst="rect">
            <a:avLst/>
          </a:prstGeom>
          <a:noFill/>
          <a:ln/>
        </p:spPr>
        <p:txBody>
          <a:bodyPr wrap="square" lIns="0" tIns="0" rIns="0" bIns="0" rtlCol="0" anchor="ctr"/>
          <a:lstStyle/>
          <a:p>
            <a:pPr indent="0" marL="0">
              <a:buNone/>
            </a:pPr>
            <a:r>
              <a:rPr lang="en-US" sz="1900" dirty="0">
                <a:solidFill>
                  <a:srgbClr val="FFFFFF"/>
                </a:solidFill>
              </a:rPr>
              <a:t>Eligible leaders may receive an override on qualifying team production.</a:t>
            </a:r>
            <a:endParaRPr lang="en-US" sz="1900" dirty="0"/>
          </a:p>
        </p:txBody>
      </p:sp>
      <p:sp>
        <p:nvSpPr>
          <p:cNvPr id="10" name="Text 8"/>
          <p:cNvSpPr/>
          <p:nvPr/>
        </p:nvSpPr>
        <p:spPr>
          <a:xfrm>
            <a:off x="786384" y="3968496"/>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Renewals</a:t>
            </a:r>
            <a:endParaRPr lang="en-US" sz="1800" dirty="0"/>
          </a:p>
        </p:txBody>
      </p:sp>
      <p:sp>
        <p:nvSpPr>
          <p:cNvPr id="11" name="Text 9"/>
          <p:cNvSpPr/>
          <p:nvPr/>
        </p:nvSpPr>
        <p:spPr>
          <a:xfrm>
            <a:off x="3621024" y="3968496"/>
            <a:ext cx="7589520" cy="1024128"/>
          </a:xfrm>
          <a:prstGeom prst="rect">
            <a:avLst/>
          </a:prstGeom>
          <a:noFill/>
          <a:ln/>
        </p:spPr>
        <p:txBody>
          <a:bodyPr wrap="square" lIns="0" tIns="0" rIns="0" bIns="0" rtlCol="0" anchor="ctr"/>
          <a:lstStyle/>
          <a:p>
            <a:pPr indent="0" marL="0">
              <a:buNone/>
            </a:pPr>
            <a:r>
              <a:rPr lang="en-US" sz="1900" dirty="0">
                <a:solidFill>
                  <a:srgbClr val="FFFFFF"/>
                </a:solidFill>
              </a:rPr>
              <a:t>Some contracts may pay future renewal compensation while conditions remain met.</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 Agency 2022 Income Disclosure; verify all override and renewal details in current plan.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Income myth check</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AUDIENCE CHALLENGE</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22</a:t>
            </a:r>
            <a:endParaRPr lang="en-US" sz="1000" dirty="0"/>
          </a:p>
        </p:txBody>
      </p:sp>
      <p:sp>
        <p:nvSpPr>
          <p:cNvPr id="6" name="Text 4"/>
          <p:cNvSpPr/>
          <p:nvPr/>
        </p:nvSpPr>
        <p:spPr>
          <a:xfrm>
            <a:off x="731520" y="1554480"/>
            <a:ext cx="10607040" cy="1051560"/>
          </a:xfrm>
          <a:prstGeom prst="rect">
            <a:avLst/>
          </a:prstGeom>
          <a:noFill/>
          <a:ln/>
        </p:spPr>
        <p:txBody>
          <a:bodyPr wrap="square" lIns="0" tIns="0" rIns="0" bIns="0" rtlCol="0" anchor="ctr"/>
          <a:lstStyle/>
          <a:p>
            <a:pPr indent="0" marL="0">
              <a:buNone/>
            </a:pPr>
            <a:r>
              <a:rPr lang="en-US" sz="3000" b="1" dirty="0">
                <a:solidFill>
                  <a:srgbClr val="FFFFFF"/>
                </a:solidFill>
              </a:rPr>
              <a:t>Which event can create eligible compensation?</a:t>
            </a:r>
            <a:endParaRPr lang="en-US" sz="3000" dirty="0"/>
          </a:p>
        </p:txBody>
      </p:sp>
      <p:sp>
        <p:nvSpPr>
          <p:cNvPr id="7" name="Text 5"/>
          <p:cNvSpPr/>
          <p:nvPr/>
        </p:nvSpPr>
        <p:spPr>
          <a:xfrm>
            <a:off x="777240" y="283464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A</a:t>
            </a:r>
            <a:endParaRPr lang="en-US" sz="2800" dirty="0"/>
          </a:p>
        </p:txBody>
      </p:sp>
      <p:sp>
        <p:nvSpPr>
          <p:cNvPr id="8" name="Text 6"/>
          <p:cNvSpPr/>
          <p:nvPr/>
        </p:nvSpPr>
        <p:spPr>
          <a:xfrm>
            <a:off x="1417320" y="2834640"/>
            <a:ext cx="9692640" cy="594360"/>
          </a:xfrm>
          <a:prstGeom prst="rect">
            <a:avLst/>
          </a:prstGeom>
          <a:noFill/>
          <a:ln/>
        </p:spPr>
        <p:txBody>
          <a:bodyPr wrap="square" lIns="0" tIns="0" rIns="0" bIns="0" rtlCol="0" anchor="ctr"/>
          <a:lstStyle/>
          <a:p>
            <a:pPr indent="0" marL="0">
              <a:buNone/>
            </a:pPr>
            <a:r>
              <a:rPr lang="en-US" sz="2300" dirty="0">
                <a:solidFill>
                  <a:srgbClr val="FFFFFF"/>
                </a:solidFill>
              </a:rPr>
              <a:t>Alex signs up as a new recruit.</a:t>
            </a:r>
            <a:endParaRPr lang="en-US" sz="2300" dirty="0"/>
          </a:p>
        </p:txBody>
      </p:sp>
      <p:sp>
        <p:nvSpPr>
          <p:cNvPr id="9" name="Text 7"/>
          <p:cNvSpPr/>
          <p:nvPr/>
        </p:nvSpPr>
        <p:spPr>
          <a:xfrm>
            <a:off x="777240" y="361188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B</a:t>
            </a:r>
            <a:endParaRPr lang="en-US" sz="2800" dirty="0"/>
          </a:p>
        </p:txBody>
      </p:sp>
      <p:sp>
        <p:nvSpPr>
          <p:cNvPr id="10" name="Text 8"/>
          <p:cNvSpPr/>
          <p:nvPr/>
        </p:nvSpPr>
        <p:spPr>
          <a:xfrm>
            <a:off x="1417320" y="3611880"/>
            <a:ext cx="9692640" cy="594360"/>
          </a:xfrm>
          <a:prstGeom prst="rect">
            <a:avLst/>
          </a:prstGeom>
          <a:noFill/>
          <a:ln/>
        </p:spPr>
        <p:txBody>
          <a:bodyPr wrap="square" lIns="0" tIns="0" rIns="0" bIns="0" rtlCol="0" anchor="ctr"/>
          <a:lstStyle/>
          <a:p>
            <a:pPr indent="0" marL="0">
              <a:buNone/>
            </a:pPr>
            <a:r>
              <a:rPr lang="en-US" sz="2300" dirty="0">
                <a:solidFill>
                  <a:srgbClr val="FFFFFF"/>
                </a:solidFill>
              </a:rPr>
              <a:t>A properly licensed agent places qualifying product business.</a:t>
            </a:r>
            <a:endParaRPr lang="en-US" sz="2300" dirty="0"/>
          </a:p>
        </p:txBody>
      </p:sp>
      <p:sp>
        <p:nvSpPr>
          <p:cNvPr id="11" name="Text 9"/>
          <p:cNvSpPr/>
          <p:nvPr/>
        </p:nvSpPr>
        <p:spPr>
          <a:xfrm>
            <a:off x="777240" y="438912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C</a:t>
            </a:r>
            <a:endParaRPr lang="en-US" sz="2800" dirty="0"/>
          </a:p>
        </p:txBody>
      </p:sp>
      <p:sp>
        <p:nvSpPr>
          <p:cNvPr id="12" name="Text 10"/>
          <p:cNvSpPr/>
          <p:nvPr/>
        </p:nvSpPr>
        <p:spPr>
          <a:xfrm>
            <a:off x="1417320" y="4389120"/>
            <a:ext cx="9692640" cy="594360"/>
          </a:xfrm>
          <a:prstGeom prst="rect">
            <a:avLst/>
          </a:prstGeom>
          <a:noFill/>
          <a:ln/>
        </p:spPr>
        <p:txBody>
          <a:bodyPr wrap="square" lIns="0" tIns="0" rIns="0" bIns="0" rtlCol="0" anchor="ctr"/>
          <a:lstStyle/>
          <a:p>
            <a:pPr indent="0" marL="0">
              <a:buNone/>
            </a:pPr>
            <a:r>
              <a:rPr lang="en-US" sz="2300" dirty="0">
                <a:solidFill>
                  <a:srgbClr val="FFFFFF"/>
                </a:solidFill>
              </a:rPr>
              <a:t>Maya gives you a friend’s phone number.</a:t>
            </a:r>
            <a:endParaRPr lang="en-US" sz="2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The client referral loop</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Service can lead to another conversation.</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23</a:t>
            </a:r>
            <a:endParaRPr lang="en-US" sz="1000" dirty="0"/>
          </a:p>
        </p:txBody>
      </p:sp>
      <p:sp>
        <p:nvSpPr>
          <p:cNvPr id="6" name="Text 4"/>
          <p:cNvSpPr/>
          <p:nvPr/>
        </p:nvSpPr>
        <p:spPr>
          <a:xfrm>
            <a:off x="786384" y="1554480"/>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Service first</a:t>
            </a:r>
            <a:endParaRPr lang="en-US" sz="1800" dirty="0"/>
          </a:p>
        </p:txBody>
      </p:sp>
      <p:sp>
        <p:nvSpPr>
          <p:cNvPr id="7" name="Text 5"/>
          <p:cNvSpPr/>
          <p:nvPr/>
        </p:nvSpPr>
        <p:spPr>
          <a:xfrm>
            <a:off x="3621024" y="1554480"/>
            <a:ext cx="7589520" cy="1024128"/>
          </a:xfrm>
          <a:prstGeom prst="rect">
            <a:avLst/>
          </a:prstGeom>
          <a:noFill/>
          <a:ln/>
        </p:spPr>
        <p:txBody>
          <a:bodyPr wrap="square" lIns="0" tIns="0" rIns="0" bIns="0" rtlCol="0" anchor="ctr"/>
          <a:lstStyle/>
          <a:p>
            <a:pPr indent="0" marL="0">
              <a:buNone/>
            </a:pPr>
            <a:r>
              <a:rPr lang="en-US" sz="1900" dirty="0">
                <a:solidFill>
                  <a:srgbClr val="FFFFFF"/>
                </a:solidFill>
              </a:rPr>
              <a:t>Review the client’s experience and answer outstanding questions.</a:t>
            </a:r>
            <a:endParaRPr lang="en-US" sz="1900" dirty="0"/>
          </a:p>
        </p:txBody>
      </p:sp>
      <p:sp>
        <p:nvSpPr>
          <p:cNvPr id="8" name="Text 6"/>
          <p:cNvSpPr/>
          <p:nvPr/>
        </p:nvSpPr>
        <p:spPr>
          <a:xfrm>
            <a:off x="786384" y="2761488"/>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Ask permission</a:t>
            </a:r>
            <a:endParaRPr lang="en-US" sz="1800" dirty="0"/>
          </a:p>
        </p:txBody>
      </p:sp>
      <p:sp>
        <p:nvSpPr>
          <p:cNvPr id="9" name="Text 7"/>
          <p:cNvSpPr/>
          <p:nvPr/>
        </p:nvSpPr>
        <p:spPr>
          <a:xfrm>
            <a:off x="3621024" y="2761488"/>
            <a:ext cx="7589520" cy="1024128"/>
          </a:xfrm>
          <a:prstGeom prst="rect">
            <a:avLst/>
          </a:prstGeom>
          <a:noFill/>
          <a:ln/>
        </p:spPr>
        <p:txBody>
          <a:bodyPr wrap="square" lIns="0" tIns="0" rIns="0" bIns="0" rtlCol="0" anchor="ctr"/>
          <a:lstStyle/>
          <a:p>
            <a:pPr indent="0" marL="0">
              <a:buNone/>
            </a:pPr>
            <a:r>
              <a:rPr lang="en-US" sz="1900" dirty="0">
                <a:solidFill>
                  <a:srgbClr val="FFFFFF"/>
                </a:solidFill>
              </a:rPr>
              <a:t>“Who else would appreciate a conversation like this?”</a:t>
            </a:r>
            <a:endParaRPr lang="en-US" sz="1900" dirty="0"/>
          </a:p>
        </p:txBody>
      </p:sp>
      <p:sp>
        <p:nvSpPr>
          <p:cNvPr id="10" name="Text 8"/>
          <p:cNvSpPr/>
          <p:nvPr/>
        </p:nvSpPr>
        <p:spPr>
          <a:xfrm>
            <a:off x="786384" y="3968496"/>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Re-enter</a:t>
            </a:r>
            <a:endParaRPr lang="en-US" sz="1800" dirty="0"/>
          </a:p>
        </p:txBody>
      </p:sp>
      <p:sp>
        <p:nvSpPr>
          <p:cNvPr id="11" name="Text 9"/>
          <p:cNvSpPr/>
          <p:nvPr/>
        </p:nvSpPr>
        <p:spPr>
          <a:xfrm>
            <a:off x="3621024" y="3968496"/>
            <a:ext cx="7589520" cy="1024128"/>
          </a:xfrm>
          <a:prstGeom prst="rect">
            <a:avLst/>
          </a:prstGeom>
          <a:noFill/>
          <a:ln/>
        </p:spPr>
        <p:txBody>
          <a:bodyPr wrap="square" lIns="0" tIns="0" rIns="0" bIns="0" rtlCol="0" anchor="ctr"/>
          <a:lstStyle/>
          <a:p>
            <a:pPr indent="0" marL="0">
              <a:buNone/>
            </a:pPr>
            <a:r>
              <a:rPr lang="en-US" sz="1900" dirty="0">
                <a:solidFill>
                  <a:srgbClr val="FFFFFF"/>
                </a:solidFill>
              </a:rPr>
              <a:t>An introduction becomes a new prospect, then follows the same choices.</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Training application based on PHPU PT 3, pp. 41, 45–46.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The recruit development loop</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An active agent can become the next captain and trainer.</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24</a:t>
            </a:r>
            <a:endParaRPr lang="en-US" sz="1000" dirty="0"/>
          </a:p>
        </p:txBody>
      </p:sp>
      <p:sp>
        <p:nvSpPr>
          <p:cNvPr id="6" name="Text 4"/>
          <p:cNvSpPr/>
          <p:nvPr/>
        </p:nvSpPr>
        <p:spPr>
          <a:xfrm>
            <a:off x="786384" y="1554480"/>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Learn</a:t>
            </a:r>
            <a:endParaRPr lang="en-US" sz="1800" dirty="0"/>
          </a:p>
        </p:txBody>
      </p:sp>
      <p:sp>
        <p:nvSpPr>
          <p:cNvPr id="7" name="Text 5"/>
          <p:cNvSpPr/>
          <p:nvPr/>
        </p:nvSpPr>
        <p:spPr>
          <a:xfrm>
            <a:off x="3621024" y="1554480"/>
            <a:ext cx="7589520" cy="1024128"/>
          </a:xfrm>
          <a:prstGeom prst="rect">
            <a:avLst/>
          </a:prstGeom>
          <a:noFill/>
          <a:ln/>
        </p:spPr>
        <p:txBody>
          <a:bodyPr wrap="square" lIns="0" tIns="0" rIns="0" bIns="0" rtlCol="0" anchor="ctr"/>
          <a:lstStyle/>
          <a:p>
            <a:pPr indent="0" marL="0">
              <a:buNone/>
            </a:pPr>
            <a:r>
              <a:rPr lang="en-US" sz="1900" dirty="0">
                <a:solidFill>
                  <a:srgbClr val="FFFFFF"/>
                </a:solidFill>
              </a:rPr>
              <a:t>The new recruit attends, practices, and completes required licensing.</a:t>
            </a:r>
            <a:endParaRPr lang="en-US" sz="1900" dirty="0"/>
          </a:p>
        </p:txBody>
      </p:sp>
      <p:sp>
        <p:nvSpPr>
          <p:cNvPr id="8" name="Text 6"/>
          <p:cNvSpPr/>
          <p:nvPr/>
        </p:nvSpPr>
        <p:spPr>
          <a:xfrm>
            <a:off x="786384" y="2761488"/>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Invite</a:t>
            </a:r>
            <a:endParaRPr lang="en-US" sz="1800" dirty="0"/>
          </a:p>
        </p:txBody>
      </p:sp>
      <p:sp>
        <p:nvSpPr>
          <p:cNvPr id="9" name="Text 7"/>
          <p:cNvSpPr/>
          <p:nvPr/>
        </p:nvSpPr>
        <p:spPr>
          <a:xfrm>
            <a:off x="3621024" y="2761488"/>
            <a:ext cx="7589520" cy="1024128"/>
          </a:xfrm>
          <a:prstGeom prst="rect">
            <a:avLst/>
          </a:prstGeom>
          <a:noFill/>
          <a:ln/>
        </p:spPr>
        <p:txBody>
          <a:bodyPr wrap="square" lIns="0" tIns="0" rIns="0" bIns="0" rtlCol="0" anchor="ctr"/>
          <a:lstStyle/>
          <a:p>
            <a:pPr indent="0" marL="0">
              <a:buNone/>
            </a:pPr>
            <a:r>
              <a:rPr lang="en-US" sz="1900" dirty="0">
                <a:solidFill>
                  <a:srgbClr val="FFFFFF"/>
                </a:solidFill>
              </a:rPr>
              <a:t>They run their own guest list and captain process.</a:t>
            </a:r>
            <a:endParaRPr lang="en-US" sz="1900" dirty="0"/>
          </a:p>
        </p:txBody>
      </p:sp>
      <p:sp>
        <p:nvSpPr>
          <p:cNvPr id="10" name="Text 8"/>
          <p:cNvSpPr/>
          <p:nvPr/>
        </p:nvSpPr>
        <p:spPr>
          <a:xfrm>
            <a:off x="786384" y="3968496"/>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Serve and coach</a:t>
            </a:r>
            <a:endParaRPr lang="en-US" sz="1800" dirty="0"/>
          </a:p>
        </p:txBody>
      </p:sp>
      <p:sp>
        <p:nvSpPr>
          <p:cNvPr id="11" name="Text 9"/>
          <p:cNvSpPr/>
          <p:nvPr/>
        </p:nvSpPr>
        <p:spPr>
          <a:xfrm>
            <a:off x="3621024" y="3968496"/>
            <a:ext cx="7589520" cy="1024128"/>
          </a:xfrm>
          <a:prstGeom prst="rect">
            <a:avLst/>
          </a:prstGeom>
          <a:noFill/>
          <a:ln/>
        </p:spPr>
        <p:txBody>
          <a:bodyPr wrap="square" lIns="0" tIns="0" rIns="0" bIns="0" rtlCol="0" anchor="ctr"/>
          <a:lstStyle/>
          <a:p>
            <a:pPr indent="0" marL="0">
              <a:buNone/>
            </a:pPr>
            <a:r>
              <a:rPr lang="en-US" sz="1900" dirty="0">
                <a:solidFill>
                  <a:srgbClr val="FFFFFF"/>
                </a:solidFill>
              </a:rPr>
              <a:t>They help families and eventually teach another agent.</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PHPU PT 3, pp. 45–46; MPBS 2023, builder philosophy.</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One person, multiple valid paths</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Use the person’s interest and eligibility to guide the next step.</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25</a:t>
            </a:r>
            <a:endParaRPr lang="en-US" sz="1000" dirty="0"/>
          </a:p>
        </p:txBody>
      </p:sp>
      <p:sp>
        <p:nvSpPr>
          <p:cNvPr id="6" name="Text 4"/>
          <p:cNvSpPr/>
          <p:nvPr/>
        </p:nvSpPr>
        <p:spPr>
          <a:xfrm>
            <a:off x="786384" y="155448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Guest to recruit</a:t>
            </a:r>
            <a:endParaRPr lang="en-US" sz="1800" dirty="0"/>
          </a:p>
        </p:txBody>
      </p:sp>
      <p:sp>
        <p:nvSpPr>
          <p:cNvPr id="7" name="Text 5"/>
          <p:cNvSpPr/>
          <p:nvPr/>
        </p:nvSpPr>
        <p:spPr>
          <a:xfrm>
            <a:off x="3621024" y="1554480"/>
            <a:ext cx="7589520" cy="994410"/>
          </a:xfrm>
          <a:prstGeom prst="rect">
            <a:avLst/>
          </a:prstGeom>
          <a:noFill/>
          <a:ln/>
        </p:spPr>
        <p:txBody>
          <a:bodyPr wrap="square" lIns="0" tIns="0" rIns="0" bIns="0" rtlCol="0" anchor="ctr"/>
          <a:lstStyle/>
          <a:p>
            <a:pPr indent="0" marL="0">
              <a:buNone/>
            </a:pPr>
            <a:r>
              <a:rPr lang="en-US" sz="1900" dirty="0">
                <a:solidFill>
                  <a:srgbClr val="FFFFFF"/>
                </a:solidFill>
              </a:rPr>
              <a:t>Business interest leads to interview, onboarding, and training.</a:t>
            </a:r>
            <a:endParaRPr lang="en-US" sz="1900" dirty="0"/>
          </a:p>
        </p:txBody>
      </p:sp>
      <p:sp>
        <p:nvSpPr>
          <p:cNvPr id="8" name="Text 6"/>
          <p:cNvSpPr/>
          <p:nvPr/>
        </p:nvSpPr>
        <p:spPr>
          <a:xfrm>
            <a:off x="786384" y="273177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Guest to client</a:t>
            </a:r>
            <a:endParaRPr lang="en-US" sz="1800" dirty="0"/>
          </a:p>
        </p:txBody>
      </p:sp>
      <p:sp>
        <p:nvSpPr>
          <p:cNvPr id="9" name="Text 7"/>
          <p:cNvSpPr/>
          <p:nvPr/>
        </p:nvSpPr>
        <p:spPr>
          <a:xfrm>
            <a:off x="3621024" y="2731770"/>
            <a:ext cx="7589520" cy="994410"/>
          </a:xfrm>
          <a:prstGeom prst="rect">
            <a:avLst/>
          </a:prstGeom>
          <a:noFill/>
          <a:ln/>
        </p:spPr>
        <p:txBody>
          <a:bodyPr wrap="square" lIns="0" tIns="0" rIns="0" bIns="0" rtlCol="0" anchor="ctr"/>
          <a:lstStyle/>
          <a:p>
            <a:pPr indent="0" marL="0">
              <a:buNone/>
            </a:pPr>
            <a:r>
              <a:rPr lang="en-US" sz="1900" dirty="0">
                <a:solidFill>
                  <a:srgbClr val="FFFFFF"/>
                </a:solidFill>
              </a:rPr>
              <a:t>Service interest leads to a licensed needs conversation.</a:t>
            </a:r>
            <a:endParaRPr lang="en-US" sz="1900" dirty="0"/>
          </a:p>
        </p:txBody>
      </p:sp>
      <p:sp>
        <p:nvSpPr>
          <p:cNvPr id="10" name="Text 8"/>
          <p:cNvSpPr/>
          <p:nvPr/>
        </p:nvSpPr>
        <p:spPr>
          <a:xfrm>
            <a:off x="786384" y="390906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Client to recruit</a:t>
            </a:r>
            <a:endParaRPr lang="en-US" sz="1800" dirty="0"/>
          </a:p>
        </p:txBody>
      </p:sp>
      <p:sp>
        <p:nvSpPr>
          <p:cNvPr id="11" name="Text 9"/>
          <p:cNvSpPr/>
          <p:nvPr/>
        </p:nvSpPr>
        <p:spPr>
          <a:xfrm>
            <a:off x="3621024" y="3909060"/>
            <a:ext cx="7589520" cy="994410"/>
          </a:xfrm>
          <a:prstGeom prst="rect">
            <a:avLst/>
          </a:prstGeom>
          <a:noFill/>
          <a:ln/>
        </p:spPr>
        <p:txBody>
          <a:bodyPr wrap="square" lIns="0" tIns="0" rIns="0" bIns="0" rtlCol="0" anchor="ctr"/>
          <a:lstStyle/>
          <a:p>
            <a:pPr indent="0" marL="0">
              <a:buNone/>
            </a:pPr>
            <a:r>
              <a:rPr lang="en-US" sz="1900" dirty="0">
                <a:solidFill>
                  <a:srgbClr val="FFFFFF"/>
                </a:solidFill>
              </a:rPr>
              <a:t>A client who asks about the career can explore the opportunity.</a:t>
            </a:r>
            <a:endParaRPr lang="en-US" sz="1900" dirty="0"/>
          </a:p>
        </p:txBody>
      </p:sp>
      <p:sp>
        <p:nvSpPr>
          <p:cNvPr id="12" name="Text 10"/>
          <p:cNvSpPr/>
          <p:nvPr/>
        </p:nvSpPr>
        <p:spPr>
          <a:xfrm>
            <a:off x="786384" y="508635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Recruit to captain</a:t>
            </a:r>
            <a:endParaRPr lang="en-US" sz="1800" dirty="0"/>
          </a:p>
        </p:txBody>
      </p:sp>
      <p:sp>
        <p:nvSpPr>
          <p:cNvPr id="13" name="Text 11"/>
          <p:cNvSpPr/>
          <p:nvPr/>
        </p:nvSpPr>
        <p:spPr>
          <a:xfrm>
            <a:off x="3621024" y="5086350"/>
            <a:ext cx="7589520" cy="994410"/>
          </a:xfrm>
          <a:prstGeom prst="rect">
            <a:avLst/>
          </a:prstGeom>
          <a:noFill/>
          <a:ln/>
        </p:spPr>
        <p:txBody>
          <a:bodyPr wrap="square" lIns="0" tIns="0" rIns="0" bIns="0" rtlCol="0" anchor="ctr"/>
          <a:lstStyle/>
          <a:p>
            <a:pPr indent="0" marL="0">
              <a:buNone/>
            </a:pPr>
            <a:r>
              <a:rPr lang="en-US" sz="1900" dirty="0">
                <a:solidFill>
                  <a:srgbClr val="FFFFFF"/>
                </a:solidFill>
              </a:rPr>
              <a:t>An associate practices inviting and hosting their own guests.</a:t>
            </a:r>
            <a:endParaRPr lang="en-US" sz="1900" dirty="0"/>
          </a:p>
        </p:txBody>
      </p:sp>
      <p:sp>
        <p:nvSpPr>
          <p:cNvPr id="14" name="Text 12"/>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Training framework based on PHPU PT 3 and MPBS 2023.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Numbers reveal the handoff</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Start with the Captain’s 10 / 3 / 1 example, then measure actual results.</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26</a:t>
            </a:r>
            <a:endParaRPr lang="en-US" sz="1000" dirty="0"/>
          </a:p>
        </p:txBody>
      </p:sp>
      <p:sp>
        <p:nvSpPr>
          <p:cNvPr id="6" name="Text 4"/>
          <p:cNvSpPr/>
          <p:nvPr/>
        </p:nvSpPr>
        <p:spPr>
          <a:xfrm>
            <a:off x="786384" y="155448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Invitation</a:t>
            </a:r>
            <a:endParaRPr lang="en-US" sz="1800" dirty="0"/>
          </a:p>
        </p:txBody>
      </p:sp>
      <p:sp>
        <p:nvSpPr>
          <p:cNvPr id="7" name="Text 5"/>
          <p:cNvSpPr/>
          <p:nvPr/>
        </p:nvSpPr>
        <p:spPr>
          <a:xfrm>
            <a:off x="3621024" y="1554480"/>
            <a:ext cx="7589520" cy="994410"/>
          </a:xfrm>
          <a:prstGeom prst="rect">
            <a:avLst/>
          </a:prstGeom>
          <a:noFill/>
          <a:ln/>
        </p:spPr>
        <p:txBody>
          <a:bodyPr wrap="square" lIns="0" tIns="0" rIns="0" bIns="0" rtlCol="0" anchor="ctr"/>
          <a:lstStyle/>
          <a:p>
            <a:pPr indent="0" marL="0">
              <a:buNone/>
            </a:pPr>
            <a:r>
              <a:rPr lang="en-US" sz="1900" dirty="0">
                <a:solidFill>
                  <a:srgbClr val="FFFFFF"/>
                </a:solidFill>
              </a:rPr>
              <a:t>10 invitations as a planning unit.</a:t>
            </a:r>
            <a:endParaRPr lang="en-US" sz="1900" dirty="0"/>
          </a:p>
        </p:txBody>
      </p:sp>
      <p:sp>
        <p:nvSpPr>
          <p:cNvPr id="8" name="Text 6"/>
          <p:cNvSpPr/>
          <p:nvPr/>
        </p:nvSpPr>
        <p:spPr>
          <a:xfrm>
            <a:off x="786384" y="273177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Attendance</a:t>
            </a:r>
            <a:endParaRPr lang="en-US" sz="1800" dirty="0"/>
          </a:p>
        </p:txBody>
      </p:sp>
      <p:sp>
        <p:nvSpPr>
          <p:cNvPr id="9" name="Text 7"/>
          <p:cNvSpPr/>
          <p:nvPr/>
        </p:nvSpPr>
        <p:spPr>
          <a:xfrm>
            <a:off x="3621024" y="2731770"/>
            <a:ext cx="7589520" cy="994410"/>
          </a:xfrm>
          <a:prstGeom prst="rect">
            <a:avLst/>
          </a:prstGeom>
          <a:noFill/>
          <a:ln/>
        </p:spPr>
        <p:txBody>
          <a:bodyPr wrap="square" lIns="0" tIns="0" rIns="0" bIns="0" rtlCol="0" anchor="ctr"/>
          <a:lstStyle/>
          <a:p>
            <a:pPr indent="0" marL="0">
              <a:buNone/>
            </a:pPr>
            <a:r>
              <a:rPr lang="en-US" sz="1900" dirty="0">
                <a:solidFill>
                  <a:srgbClr val="FFFFFF"/>
                </a:solidFill>
              </a:rPr>
              <a:t>About 3 attend in the PHPU illustration.</a:t>
            </a:r>
            <a:endParaRPr lang="en-US" sz="1900" dirty="0"/>
          </a:p>
        </p:txBody>
      </p:sp>
      <p:sp>
        <p:nvSpPr>
          <p:cNvPr id="10" name="Text 8"/>
          <p:cNvSpPr/>
          <p:nvPr/>
        </p:nvSpPr>
        <p:spPr>
          <a:xfrm>
            <a:off x="786384" y="390906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Start</a:t>
            </a:r>
            <a:endParaRPr lang="en-US" sz="1800" dirty="0"/>
          </a:p>
        </p:txBody>
      </p:sp>
      <p:sp>
        <p:nvSpPr>
          <p:cNvPr id="11" name="Text 9"/>
          <p:cNvSpPr/>
          <p:nvPr/>
        </p:nvSpPr>
        <p:spPr>
          <a:xfrm>
            <a:off x="3621024" y="3909060"/>
            <a:ext cx="7589520" cy="994410"/>
          </a:xfrm>
          <a:prstGeom prst="rect">
            <a:avLst/>
          </a:prstGeom>
          <a:noFill/>
          <a:ln/>
        </p:spPr>
        <p:txBody>
          <a:bodyPr wrap="square" lIns="0" tIns="0" rIns="0" bIns="0" rtlCol="0" anchor="ctr"/>
          <a:lstStyle/>
          <a:p>
            <a:pPr indent="0" marL="0">
              <a:buNone/>
            </a:pPr>
            <a:r>
              <a:rPr lang="en-US" sz="1900" dirty="0">
                <a:solidFill>
                  <a:srgbClr val="FFFFFF"/>
                </a:solidFill>
              </a:rPr>
              <a:t>About 1 starts in the illustration.</a:t>
            </a:r>
            <a:endParaRPr lang="en-US" sz="1900" dirty="0"/>
          </a:p>
        </p:txBody>
      </p:sp>
      <p:sp>
        <p:nvSpPr>
          <p:cNvPr id="12" name="Text 10"/>
          <p:cNvSpPr/>
          <p:nvPr/>
        </p:nvSpPr>
        <p:spPr>
          <a:xfrm>
            <a:off x="786384" y="508635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Beyond start</a:t>
            </a:r>
            <a:endParaRPr lang="en-US" sz="1800" dirty="0"/>
          </a:p>
        </p:txBody>
      </p:sp>
      <p:sp>
        <p:nvSpPr>
          <p:cNvPr id="13" name="Text 11"/>
          <p:cNvSpPr/>
          <p:nvPr/>
        </p:nvSpPr>
        <p:spPr>
          <a:xfrm>
            <a:off x="3621024" y="5086350"/>
            <a:ext cx="7589520" cy="994410"/>
          </a:xfrm>
          <a:prstGeom prst="rect">
            <a:avLst/>
          </a:prstGeom>
          <a:noFill/>
          <a:ln/>
        </p:spPr>
        <p:txBody>
          <a:bodyPr wrap="square" lIns="0" tIns="0" rIns="0" bIns="0" rtlCol="0" anchor="ctr"/>
          <a:lstStyle/>
          <a:p>
            <a:pPr indent="0" marL="0">
              <a:buNone/>
            </a:pPr>
            <a:r>
              <a:rPr lang="en-US" sz="1900" dirty="0">
                <a:solidFill>
                  <a:srgbClr val="FFFFFF"/>
                </a:solidFill>
              </a:rPr>
              <a:t>Track licensed, active, client service, and placed business.</a:t>
            </a:r>
            <a:endParaRPr lang="en-US" sz="1900" dirty="0"/>
          </a:p>
        </p:txBody>
      </p:sp>
      <p:sp>
        <p:nvSpPr>
          <p:cNvPr id="14" name="Text 12"/>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PHPU PT 3, p. 41; MPBS 2023, 10/3/1 exercise.</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Find the missing handoff</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AUDIENCE CHALLENGE</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27</a:t>
            </a:r>
            <a:endParaRPr lang="en-US" sz="1000" dirty="0"/>
          </a:p>
        </p:txBody>
      </p:sp>
      <p:sp>
        <p:nvSpPr>
          <p:cNvPr id="6" name="Text 4"/>
          <p:cNvSpPr/>
          <p:nvPr/>
        </p:nvSpPr>
        <p:spPr>
          <a:xfrm>
            <a:off x="731520" y="1554480"/>
            <a:ext cx="10607040" cy="1051560"/>
          </a:xfrm>
          <a:prstGeom prst="rect">
            <a:avLst/>
          </a:prstGeom>
          <a:noFill/>
          <a:ln/>
        </p:spPr>
        <p:txBody>
          <a:bodyPr wrap="square" lIns="0" tIns="0" rIns="0" bIns="0" rtlCol="0" anchor="ctr"/>
          <a:lstStyle/>
          <a:p>
            <a:pPr indent="0" marL="0">
              <a:buNone/>
            </a:pPr>
            <a:r>
              <a:rPr lang="en-US" sz="3000" b="1" dirty="0">
                <a:solidFill>
                  <a:srgbClr val="FFFFFF"/>
                </a:solidFill>
              </a:rPr>
              <a:t>This week: 30 invited, 9 attended, 3 joined, and 0 orientations booked.</a:t>
            </a:r>
            <a:endParaRPr lang="en-US" sz="3000" dirty="0"/>
          </a:p>
        </p:txBody>
      </p:sp>
      <p:sp>
        <p:nvSpPr>
          <p:cNvPr id="7" name="Text 5"/>
          <p:cNvSpPr/>
          <p:nvPr/>
        </p:nvSpPr>
        <p:spPr>
          <a:xfrm>
            <a:off x="777240" y="283464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A</a:t>
            </a:r>
            <a:endParaRPr lang="en-US" sz="2800" dirty="0"/>
          </a:p>
        </p:txBody>
      </p:sp>
      <p:sp>
        <p:nvSpPr>
          <p:cNvPr id="8" name="Text 6"/>
          <p:cNvSpPr/>
          <p:nvPr/>
        </p:nvSpPr>
        <p:spPr>
          <a:xfrm>
            <a:off x="1417320" y="2834640"/>
            <a:ext cx="9692640" cy="594360"/>
          </a:xfrm>
          <a:prstGeom prst="rect">
            <a:avLst/>
          </a:prstGeom>
          <a:noFill/>
          <a:ln/>
        </p:spPr>
        <p:txBody>
          <a:bodyPr wrap="square" lIns="0" tIns="0" rIns="0" bIns="0" rtlCol="0" anchor="ctr"/>
          <a:lstStyle/>
          <a:p>
            <a:pPr indent="0" marL="0">
              <a:buNone/>
            </a:pPr>
            <a:r>
              <a:rPr lang="en-US" sz="2300" dirty="0">
                <a:solidFill>
                  <a:srgbClr val="FFFFFF"/>
                </a:solidFill>
              </a:rPr>
              <a:t>Invite more people before changing anything else.</a:t>
            </a:r>
            <a:endParaRPr lang="en-US" sz="2300" dirty="0"/>
          </a:p>
        </p:txBody>
      </p:sp>
      <p:sp>
        <p:nvSpPr>
          <p:cNvPr id="9" name="Text 7"/>
          <p:cNvSpPr/>
          <p:nvPr/>
        </p:nvSpPr>
        <p:spPr>
          <a:xfrm>
            <a:off x="777240" y="361188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B</a:t>
            </a:r>
            <a:endParaRPr lang="en-US" sz="2800" dirty="0"/>
          </a:p>
        </p:txBody>
      </p:sp>
      <p:sp>
        <p:nvSpPr>
          <p:cNvPr id="10" name="Text 8"/>
          <p:cNvSpPr/>
          <p:nvPr/>
        </p:nvSpPr>
        <p:spPr>
          <a:xfrm>
            <a:off x="1417320" y="3611880"/>
            <a:ext cx="9692640" cy="594360"/>
          </a:xfrm>
          <a:prstGeom prst="rect">
            <a:avLst/>
          </a:prstGeom>
          <a:noFill/>
          <a:ln/>
        </p:spPr>
        <p:txBody>
          <a:bodyPr wrap="square" lIns="0" tIns="0" rIns="0" bIns="0" rtlCol="0" anchor="ctr"/>
          <a:lstStyle/>
          <a:p>
            <a:pPr indent="0" marL="0">
              <a:buNone/>
            </a:pPr>
            <a:r>
              <a:rPr lang="en-US" sz="2300" dirty="0">
                <a:solidFill>
                  <a:srgbClr val="FFFFFF"/>
                </a:solidFill>
              </a:rPr>
              <a:t>Book orientations and assign trainers to the three new recruits.</a:t>
            </a:r>
            <a:endParaRPr lang="en-US" sz="2300" dirty="0"/>
          </a:p>
        </p:txBody>
      </p:sp>
      <p:sp>
        <p:nvSpPr>
          <p:cNvPr id="11" name="Text 9"/>
          <p:cNvSpPr/>
          <p:nvPr/>
        </p:nvSpPr>
        <p:spPr>
          <a:xfrm>
            <a:off x="777240" y="438912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C</a:t>
            </a:r>
            <a:endParaRPr lang="en-US" sz="2800" dirty="0"/>
          </a:p>
        </p:txBody>
      </p:sp>
      <p:sp>
        <p:nvSpPr>
          <p:cNvPr id="12" name="Text 10"/>
          <p:cNvSpPr/>
          <p:nvPr/>
        </p:nvSpPr>
        <p:spPr>
          <a:xfrm>
            <a:off x="1417320" y="4389120"/>
            <a:ext cx="9692640" cy="594360"/>
          </a:xfrm>
          <a:prstGeom prst="rect">
            <a:avLst/>
          </a:prstGeom>
          <a:noFill/>
          <a:ln/>
        </p:spPr>
        <p:txBody>
          <a:bodyPr wrap="square" lIns="0" tIns="0" rIns="0" bIns="0" rtlCol="0" anchor="ctr"/>
          <a:lstStyle/>
          <a:p>
            <a:pPr indent="0" marL="0">
              <a:buNone/>
            </a:pPr>
            <a:r>
              <a:rPr lang="en-US" sz="2300" dirty="0">
                <a:solidFill>
                  <a:srgbClr val="FFFFFF"/>
                </a:solidFill>
              </a:rPr>
              <a:t>Count the three starts as earned income.</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Captain and lifecycle scorecard</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Assign one owner and next action to every open conversation.</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28</a:t>
            </a:r>
            <a:endParaRPr lang="en-US" sz="1000" dirty="0"/>
          </a:p>
        </p:txBody>
      </p:sp>
      <p:sp>
        <p:nvSpPr>
          <p:cNvPr id="6" name="Text 4"/>
          <p:cNvSpPr/>
          <p:nvPr/>
        </p:nvSpPr>
        <p:spPr>
          <a:xfrm>
            <a:off x="786384" y="155448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Front door</a:t>
            </a:r>
            <a:endParaRPr lang="en-US" sz="1800" dirty="0"/>
          </a:p>
        </p:txBody>
      </p:sp>
      <p:sp>
        <p:nvSpPr>
          <p:cNvPr id="7" name="Text 5"/>
          <p:cNvSpPr/>
          <p:nvPr/>
        </p:nvSpPr>
        <p:spPr>
          <a:xfrm>
            <a:off x="3621024" y="1554480"/>
            <a:ext cx="7589520" cy="994410"/>
          </a:xfrm>
          <a:prstGeom prst="rect">
            <a:avLst/>
          </a:prstGeom>
          <a:noFill/>
          <a:ln/>
        </p:spPr>
        <p:txBody>
          <a:bodyPr wrap="square" lIns="0" tIns="0" rIns="0" bIns="0" rtlCol="0" anchor="ctr"/>
          <a:lstStyle/>
          <a:p>
            <a:pPr indent="0" marL="0">
              <a:buNone/>
            </a:pPr>
            <a:r>
              <a:rPr lang="en-US" sz="1900" dirty="0">
                <a:solidFill>
                  <a:srgbClr val="FFFFFF"/>
                </a:solidFill>
              </a:rPr>
              <a:t>Prospects, invitations, confirmed guests, attendance.</a:t>
            </a:r>
            <a:endParaRPr lang="en-US" sz="1900" dirty="0"/>
          </a:p>
        </p:txBody>
      </p:sp>
      <p:sp>
        <p:nvSpPr>
          <p:cNvPr id="8" name="Text 6"/>
          <p:cNvSpPr/>
          <p:nvPr/>
        </p:nvSpPr>
        <p:spPr>
          <a:xfrm>
            <a:off x="786384" y="273177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Development</a:t>
            </a:r>
            <a:endParaRPr lang="en-US" sz="1800" dirty="0"/>
          </a:p>
        </p:txBody>
      </p:sp>
      <p:sp>
        <p:nvSpPr>
          <p:cNvPr id="9" name="Text 7"/>
          <p:cNvSpPr/>
          <p:nvPr/>
        </p:nvSpPr>
        <p:spPr>
          <a:xfrm>
            <a:off x="3621024" y="2731770"/>
            <a:ext cx="7589520" cy="994410"/>
          </a:xfrm>
          <a:prstGeom prst="rect">
            <a:avLst/>
          </a:prstGeom>
          <a:noFill/>
          <a:ln/>
        </p:spPr>
        <p:txBody>
          <a:bodyPr wrap="square" lIns="0" tIns="0" rIns="0" bIns="0" rtlCol="0" anchor="ctr"/>
          <a:lstStyle/>
          <a:p>
            <a:pPr indent="0" marL="0">
              <a:buNone/>
            </a:pPr>
            <a:r>
              <a:rPr lang="en-US" sz="1900" dirty="0">
                <a:solidFill>
                  <a:srgbClr val="FFFFFF"/>
                </a:solidFill>
              </a:rPr>
              <a:t>Interviews, starts, Fast Start, licensed agents, active writers.</a:t>
            </a:r>
            <a:endParaRPr lang="en-US" sz="1900" dirty="0"/>
          </a:p>
        </p:txBody>
      </p:sp>
      <p:sp>
        <p:nvSpPr>
          <p:cNvPr id="10" name="Text 8"/>
          <p:cNvSpPr/>
          <p:nvPr/>
        </p:nvSpPr>
        <p:spPr>
          <a:xfrm>
            <a:off x="786384" y="390906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Service</a:t>
            </a:r>
            <a:endParaRPr lang="en-US" sz="1800" dirty="0"/>
          </a:p>
        </p:txBody>
      </p:sp>
      <p:sp>
        <p:nvSpPr>
          <p:cNvPr id="11" name="Text 9"/>
          <p:cNvSpPr/>
          <p:nvPr/>
        </p:nvSpPr>
        <p:spPr>
          <a:xfrm>
            <a:off x="3621024" y="3909060"/>
            <a:ext cx="7589520" cy="994410"/>
          </a:xfrm>
          <a:prstGeom prst="rect">
            <a:avLst/>
          </a:prstGeom>
          <a:noFill/>
          <a:ln/>
        </p:spPr>
        <p:txBody>
          <a:bodyPr wrap="square" lIns="0" tIns="0" rIns="0" bIns="0" rtlCol="0" anchor="ctr"/>
          <a:lstStyle/>
          <a:p>
            <a:pPr indent="0" marL="0">
              <a:buNone/>
            </a:pPr>
            <a:r>
              <a:rPr lang="en-US" sz="1900" dirty="0">
                <a:solidFill>
                  <a:srgbClr val="FFFFFF"/>
                </a:solidFill>
              </a:rPr>
              <a:t>Needs meetings, applications, placed cases, client follow-up.</a:t>
            </a:r>
            <a:endParaRPr lang="en-US" sz="1900" dirty="0"/>
          </a:p>
        </p:txBody>
      </p:sp>
      <p:sp>
        <p:nvSpPr>
          <p:cNvPr id="12" name="Text 10"/>
          <p:cNvSpPr/>
          <p:nvPr/>
        </p:nvSpPr>
        <p:spPr>
          <a:xfrm>
            <a:off x="786384" y="508635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Growth</a:t>
            </a:r>
            <a:endParaRPr lang="en-US" sz="1800" dirty="0"/>
          </a:p>
        </p:txBody>
      </p:sp>
      <p:sp>
        <p:nvSpPr>
          <p:cNvPr id="13" name="Text 11"/>
          <p:cNvSpPr/>
          <p:nvPr/>
        </p:nvSpPr>
        <p:spPr>
          <a:xfrm>
            <a:off x="3621024" y="5086350"/>
            <a:ext cx="7589520" cy="994410"/>
          </a:xfrm>
          <a:prstGeom prst="rect">
            <a:avLst/>
          </a:prstGeom>
          <a:noFill/>
          <a:ln/>
        </p:spPr>
        <p:txBody>
          <a:bodyPr wrap="square" lIns="0" tIns="0" rIns="0" bIns="0" rtlCol="0" anchor="ctr"/>
          <a:lstStyle/>
          <a:p>
            <a:pPr indent="0" marL="0">
              <a:buNone/>
            </a:pPr>
            <a:r>
              <a:rPr lang="en-US" sz="1900" dirty="0">
                <a:solidFill>
                  <a:srgbClr val="FFFFFF"/>
                </a:solidFill>
              </a:rPr>
              <a:t>Client introductions, recruit introductions, new captains.</a:t>
            </a:r>
            <a:endParaRPr lang="en-US" sz="1900" dirty="0"/>
          </a:p>
        </p:txBody>
      </p:sp>
      <p:sp>
        <p:nvSpPr>
          <p:cNvPr id="14" name="Text 12"/>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PHPU PT 3, pp. 41, 45–46; MPBS 2023, clear philosophy.</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The 60-second handoff challenge</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Groups of three rotate: guest, captain, and coach.</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29</a:t>
            </a:r>
            <a:endParaRPr lang="en-US" sz="1000" dirty="0"/>
          </a:p>
        </p:txBody>
      </p:sp>
      <p:sp>
        <p:nvSpPr>
          <p:cNvPr id="6" name="Text 4"/>
          <p:cNvSpPr/>
          <p:nvPr/>
        </p:nvSpPr>
        <p:spPr>
          <a:xfrm>
            <a:off x="786384" y="1554480"/>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Business guest</a:t>
            </a:r>
            <a:endParaRPr lang="en-US" sz="1800" dirty="0"/>
          </a:p>
        </p:txBody>
      </p:sp>
      <p:sp>
        <p:nvSpPr>
          <p:cNvPr id="7" name="Text 5"/>
          <p:cNvSpPr/>
          <p:nvPr/>
        </p:nvSpPr>
        <p:spPr>
          <a:xfrm>
            <a:off x="3621024" y="1554480"/>
            <a:ext cx="7589520" cy="1024128"/>
          </a:xfrm>
          <a:prstGeom prst="rect">
            <a:avLst/>
          </a:prstGeom>
          <a:noFill/>
          <a:ln/>
        </p:spPr>
        <p:txBody>
          <a:bodyPr wrap="square" lIns="0" tIns="0" rIns="0" bIns="0" rtlCol="0" anchor="ctr"/>
          <a:lstStyle/>
          <a:p>
            <a:pPr indent="0" marL="0">
              <a:buNone/>
            </a:pPr>
            <a:r>
              <a:rPr lang="en-US" sz="1900" dirty="0">
                <a:solidFill>
                  <a:srgbClr val="FFFFFF"/>
                </a:solidFill>
              </a:rPr>
              <a:t>“What appealed to you? Would you like a recruiting interview?”</a:t>
            </a:r>
            <a:endParaRPr lang="en-US" sz="1900" dirty="0"/>
          </a:p>
        </p:txBody>
      </p:sp>
      <p:sp>
        <p:nvSpPr>
          <p:cNvPr id="8" name="Text 6"/>
          <p:cNvSpPr/>
          <p:nvPr/>
        </p:nvSpPr>
        <p:spPr>
          <a:xfrm>
            <a:off x="786384" y="2761488"/>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Client guest</a:t>
            </a:r>
            <a:endParaRPr lang="en-US" sz="1800" dirty="0"/>
          </a:p>
        </p:txBody>
      </p:sp>
      <p:sp>
        <p:nvSpPr>
          <p:cNvPr id="9" name="Text 7"/>
          <p:cNvSpPr/>
          <p:nvPr/>
        </p:nvSpPr>
        <p:spPr>
          <a:xfrm>
            <a:off x="3621024" y="2761488"/>
            <a:ext cx="7589520" cy="1024128"/>
          </a:xfrm>
          <a:prstGeom prst="rect">
            <a:avLst/>
          </a:prstGeom>
          <a:noFill/>
          <a:ln/>
        </p:spPr>
        <p:txBody>
          <a:bodyPr wrap="square" lIns="0" tIns="0" rIns="0" bIns="0" rtlCol="0" anchor="ctr"/>
          <a:lstStyle/>
          <a:p>
            <a:pPr indent="0" marL="0">
              <a:buNone/>
            </a:pPr>
            <a:r>
              <a:rPr lang="en-US" sz="1900" dirty="0">
                <a:solidFill>
                  <a:srgbClr val="FFFFFF"/>
                </a:solidFill>
              </a:rPr>
              <a:t>“Would you like a licensed agent to review your family’s needs?”</a:t>
            </a:r>
            <a:endParaRPr lang="en-US" sz="1900" dirty="0"/>
          </a:p>
        </p:txBody>
      </p:sp>
      <p:sp>
        <p:nvSpPr>
          <p:cNvPr id="10" name="Text 8"/>
          <p:cNvSpPr/>
          <p:nvPr/>
        </p:nvSpPr>
        <p:spPr>
          <a:xfrm>
            <a:off x="786384" y="3968496"/>
            <a:ext cx="2743200" cy="1024128"/>
          </a:xfrm>
          <a:prstGeom prst="rect">
            <a:avLst/>
          </a:prstGeom>
          <a:noFill/>
          <a:ln/>
        </p:spPr>
        <p:txBody>
          <a:bodyPr wrap="square" lIns="0" tIns="0" rIns="0" bIns="0" rtlCol="0" anchor="ctr"/>
          <a:lstStyle/>
          <a:p>
            <a:pPr indent="0" marL="0">
              <a:buNone/>
            </a:pPr>
            <a:r>
              <a:rPr lang="en-US" sz="1800" b="1" dirty="0">
                <a:solidFill>
                  <a:srgbClr val="D5A94C"/>
                </a:solidFill>
              </a:rPr>
              <a:t>Not ready</a:t>
            </a:r>
            <a:endParaRPr lang="en-US" sz="1800" dirty="0"/>
          </a:p>
        </p:txBody>
      </p:sp>
      <p:sp>
        <p:nvSpPr>
          <p:cNvPr id="11" name="Text 9"/>
          <p:cNvSpPr/>
          <p:nvPr/>
        </p:nvSpPr>
        <p:spPr>
          <a:xfrm>
            <a:off x="3621024" y="3968496"/>
            <a:ext cx="7589520" cy="1024128"/>
          </a:xfrm>
          <a:prstGeom prst="rect">
            <a:avLst/>
          </a:prstGeom>
          <a:noFill/>
          <a:ln/>
        </p:spPr>
        <p:txBody>
          <a:bodyPr wrap="square" lIns="0" tIns="0" rIns="0" bIns="0" rtlCol="0" anchor="ctr"/>
          <a:lstStyle/>
          <a:p>
            <a:pPr indent="0" marL="0">
              <a:buNone/>
            </a:pPr>
            <a:r>
              <a:rPr lang="en-US" sz="1900" dirty="0">
                <a:solidFill>
                  <a:srgbClr val="FFFFFF"/>
                </a:solidFill>
              </a:rPr>
              <a:t>“Would another time help, or should I close the loop?”</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Training script developed from PHPU PT 3, p. 41.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B33"/>
        </a:solidFill>
      </p:bgPr>
    </p:bg>
    <p:spTree>
      <p:nvGrpSpPr>
        <p:cNvPr id="1" name=""/>
        <p:cNvGrpSpPr/>
        <p:nvPr/>
      </p:nvGrpSpPr>
      <p:grpSpPr>
        <a:xfrm>
          <a:off x="0" y="0"/>
          <a:ext cx="0" cy="0"/>
          <a:chOff x="0" y="0"/>
          <a:chExt cx="0" cy="0"/>
        </a:xfrm>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Seven-day commitment</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Make the system visible in the next week.</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RECRUIT LIFE CYCLE</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30</a:t>
            </a:r>
            <a:endParaRPr lang="en-US" sz="1000" dirty="0"/>
          </a:p>
        </p:txBody>
      </p:sp>
      <p:sp>
        <p:nvSpPr>
          <p:cNvPr id="6" name="Text 4"/>
          <p:cNvSpPr/>
          <p:nvPr/>
        </p:nvSpPr>
        <p:spPr>
          <a:xfrm>
            <a:off x="786384" y="155448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Captain</a:t>
            </a:r>
            <a:endParaRPr lang="en-US" sz="1800" dirty="0"/>
          </a:p>
        </p:txBody>
      </p:sp>
      <p:sp>
        <p:nvSpPr>
          <p:cNvPr id="7" name="Text 5"/>
          <p:cNvSpPr/>
          <p:nvPr/>
        </p:nvSpPr>
        <p:spPr>
          <a:xfrm>
            <a:off x="3621024" y="1554480"/>
            <a:ext cx="7589520" cy="994410"/>
          </a:xfrm>
          <a:prstGeom prst="rect">
            <a:avLst/>
          </a:prstGeom>
          <a:noFill/>
          <a:ln/>
        </p:spPr>
        <p:txBody>
          <a:bodyPr wrap="square" lIns="0" tIns="0" rIns="0" bIns="0" rtlCol="0" anchor="ctr"/>
          <a:lstStyle/>
          <a:p>
            <a:pPr indent="0" marL="0">
              <a:buNone/>
            </a:pPr>
            <a:r>
              <a:rPr lang="en-US" sz="1900" dirty="0">
                <a:solidFill>
                  <a:srgbClr val="FFFFFF"/>
                </a:solidFill>
              </a:rPr>
              <a:t>Invite ten people and confirm the guests who accept.</a:t>
            </a:r>
            <a:endParaRPr lang="en-US" sz="1900" dirty="0"/>
          </a:p>
        </p:txBody>
      </p:sp>
      <p:sp>
        <p:nvSpPr>
          <p:cNvPr id="8" name="Text 6"/>
          <p:cNvSpPr/>
          <p:nvPr/>
        </p:nvSpPr>
        <p:spPr>
          <a:xfrm>
            <a:off x="786384" y="273177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Recruit</a:t>
            </a:r>
            <a:endParaRPr lang="en-US" sz="1800" dirty="0"/>
          </a:p>
        </p:txBody>
      </p:sp>
      <p:sp>
        <p:nvSpPr>
          <p:cNvPr id="9" name="Text 7"/>
          <p:cNvSpPr/>
          <p:nvPr/>
        </p:nvSpPr>
        <p:spPr>
          <a:xfrm>
            <a:off x="3621024" y="2731770"/>
            <a:ext cx="7589520" cy="994410"/>
          </a:xfrm>
          <a:prstGeom prst="rect">
            <a:avLst/>
          </a:prstGeom>
          <a:noFill/>
          <a:ln/>
        </p:spPr>
        <p:txBody>
          <a:bodyPr wrap="square" lIns="0" tIns="0" rIns="0" bIns="0" rtlCol="0" anchor="ctr"/>
          <a:lstStyle/>
          <a:p>
            <a:pPr indent="0" marL="0">
              <a:buNone/>
            </a:pPr>
            <a:r>
              <a:rPr lang="en-US" sz="1900" dirty="0">
                <a:solidFill>
                  <a:srgbClr val="FFFFFF"/>
                </a:solidFill>
              </a:rPr>
              <a:t>Help one associate complete their next training milestone.</a:t>
            </a:r>
            <a:endParaRPr lang="en-US" sz="1900" dirty="0"/>
          </a:p>
        </p:txBody>
      </p:sp>
      <p:sp>
        <p:nvSpPr>
          <p:cNvPr id="10" name="Text 8"/>
          <p:cNvSpPr/>
          <p:nvPr/>
        </p:nvSpPr>
        <p:spPr>
          <a:xfrm>
            <a:off x="786384" y="390906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Client</a:t>
            </a:r>
            <a:endParaRPr lang="en-US" sz="1800" dirty="0"/>
          </a:p>
        </p:txBody>
      </p:sp>
      <p:sp>
        <p:nvSpPr>
          <p:cNvPr id="11" name="Text 9"/>
          <p:cNvSpPr/>
          <p:nvPr/>
        </p:nvSpPr>
        <p:spPr>
          <a:xfrm>
            <a:off x="3621024" y="3909060"/>
            <a:ext cx="7589520" cy="994410"/>
          </a:xfrm>
          <a:prstGeom prst="rect">
            <a:avLst/>
          </a:prstGeom>
          <a:noFill/>
          <a:ln/>
        </p:spPr>
        <p:txBody>
          <a:bodyPr wrap="square" lIns="0" tIns="0" rIns="0" bIns="0" rtlCol="0" anchor="ctr"/>
          <a:lstStyle/>
          <a:p>
            <a:pPr indent="0" marL="0">
              <a:buNone/>
            </a:pPr>
            <a:r>
              <a:rPr lang="en-US" sz="1900" dirty="0">
                <a:solidFill>
                  <a:srgbClr val="FFFFFF"/>
                </a:solidFill>
              </a:rPr>
              <a:t>Follow through on one appropriate service conversation.</a:t>
            </a:r>
            <a:endParaRPr lang="en-US" sz="1900" dirty="0"/>
          </a:p>
        </p:txBody>
      </p:sp>
      <p:sp>
        <p:nvSpPr>
          <p:cNvPr id="12" name="Text 10"/>
          <p:cNvSpPr/>
          <p:nvPr/>
        </p:nvSpPr>
        <p:spPr>
          <a:xfrm>
            <a:off x="786384" y="5086350"/>
            <a:ext cx="2743200" cy="994410"/>
          </a:xfrm>
          <a:prstGeom prst="rect">
            <a:avLst/>
          </a:prstGeom>
          <a:noFill/>
          <a:ln/>
        </p:spPr>
        <p:txBody>
          <a:bodyPr wrap="square" lIns="0" tIns="0" rIns="0" bIns="0" rtlCol="0" anchor="ctr"/>
          <a:lstStyle/>
          <a:p>
            <a:pPr indent="0" marL="0">
              <a:buNone/>
            </a:pPr>
            <a:r>
              <a:rPr lang="en-US" sz="1800" b="1" dirty="0">
                <a:solidFill>
                  <a:srgbClr val="D5A94C"/>
                </a:solidFill>
              </a:rPr>
              <a:t>Leader</a:t>
            </a:r>
            <a:endParaRPr lang="en-US" sz="1800" dirty="0"/>
          </a:p>
        </p:txBody>
      </p:sp>
      <p:sp>
        <p:nvSpPr>
          <p:cNvPr id="13" name="Text 11"/>
          <p:cNvSpPr/>
          <p:nvPr/>
        </p:nvSpPr>
        <p:spPr>
          <a:xfrm>
            <a:off x="3621024" y="5086350"/>
            <a:ext cx="7589520" cy="994410"/>
          </a:xfrm>
          <a:prstGeom prst="rect">
            <a:avLst/>
          </a:prstGeom>
          <a:noFill/>
          <a:ln/>
        </p:spPr>
        <p:txBody>
          <a:bodyPr wrap="square" lIns="0" tIns="0" rIns="0" bIns="0" rtlCol="0" anchor="ctr"/>
          <a:lstStyle/>
          <a:p>
            <a:pPr indent="0" marL="0">
              <a:buNone/>
            </a:pPr>
            <a:r>
              <a:rPr lang="en-US" sz="1900" dirty="0">
                <a:solidFill>
                  <a:srgbClr val="FFFFFF"/>
                </a:solidFill>
              </a:rPr>
              <a:t>Review the scorecard and coach the weakest handoff.</a:t>
            </a:r>
            <a:endParaRPr lang="en-US" sz="1900" dirty="0"/>
          </a:p>
        </p:txBody>
      </p:sp>
      <p:sp>
        <p:nvSpPr>
          <p:cNvPr id="14" name="Text 12"/>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PHPU PT 3, p. 41; MPBS 2023, clear philosophy.</a:t>
            </a:r>
            <a:endParaRPr lang="en-US" sz="8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B33"/>
        </a:solidFill>
      </p:bgPr>
    </p:bg>
    <p:spTree>
      <p:nvGrpSpPr>
        <p:cNvPr id="1" name=""/>
        <p:cNvGrpSpPr/>
        <p:nvPr/>
      </p:nvGrpSpPr>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How a commission is calculated</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Three numbers multiply: premium, product rate and your contract level.</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INCOME &amp; TIMELINES</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13</a:t>
            </a:r>
            <a:endParaRPr lang="en-US" sz="1000" dirty="0"/>
          </a:p>
        </p:txBody>
      </p:sp>
      <p:sp>
        <p:nvSpPr>
          <p:cNvPr id="6" name="Text 4"/>
          <p:cNvSpPr/>
          <p:nvPr/>
        </p:nvSpPr>
        <p:spPr>
          <a:xfrm>
            <a:off x="786384" y="1554480"/>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The formula</a:t>
            </a:r>
            <a:endParaRPr lang="en-US" sz="1800" dirty="0"/>
          </a:p>
        </p:txBody>
      </p:sp>
      <p:sp>
        <p:nvSpPr>
          <p:cNvPr id="7" name="Text 5"/>
          <p:cNvSpPr/>
          <p:nvPr/>
        </p:nvSpPr>
        <p:spPr>
          <a:xfrm>
            <a:off x="3621024" y="1554480"/>
            <a:ext cx="7589520" cy="996696"/>
          </a:xfrm>
          <a:prstGeom prst="rect">
            <a:avLst/>
          </a:prstGeom>
          <a:noFill/>
          <a:ln/>
        </p:spPr>
        <p:txBody>
          <a:bodyPr wrap="square" lIns="0" tIns="0" rIns="0" bIns="0" rtlCol="0" anchor="ctr"/>
          <a:lstStyle/>
          <a:p>
            <a:pPr indent="0" marL="0">
              <a:buNone/>
            </a:pPr>
            <a:r>
              <a:rPr lang="en-US" sz="1900" dirty="0">
                <a:solidFill>
                  <a:srgbClr val="FFFFFF"/>
                </a:solidFill>
              </a:rPr>
              <a:t>Commissionable premium × product rate × contract level.</a:t>
            </a:r>
            <a:endParaRPr lang="en-US" sz="1900" dirty="0"/>
          </a:p>
        </p:txBody>
      </p:sp>
      <p:sp>
        <p:nvSpPr>
          <p:cNvPr id="8" name="Text 6"/>
          <p:cNvSpPr/>
          <p:nvPr/>
        </p:nvSpPr>
        <p:spPr>
          <a:xfrm>
            <a:off x="786384" y="2734056"/>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Example</a:t>
            </a:r>
            <a:endParaRPr lang="en-US" sz="1800" dirty="0"/>
          </a:p>
        </p:txBody>
      </p:sp>
      <p:sp>
        <p:nvSpPr>
          <p:cNvPr id="9" name="Text 7"/>
          <p:cNvSpPr/>
          <p:nvPr/>
        </p:nvSpPr>
        <p:spPr>
          <a:xfrm>
            <a:off x="3621024" y="2734056"/>
            <a:ext cx="7589520" cy="996696"/>
          </a:xfrm>
          <a:prstGeom prst="rect">
            <a:avLst/>
          </a:prstGeom>
          <a:noFill/>
          <a:ln/>
        </p:spPr>
        <p:txBody>
          <a:bodyPr wrap="square" lIns="0" tIns="0" rIns="0" bIns="0" rtlCol="0" anchor="ctr"/>
          <a:lstStyle/>
          <a:p>
            <a:pPr indent="0" marL="0">
              <a:buNone/>
            </a:pPr>
            <a:r>
              <a:rPr lang="en-US" sz="1900" dirty="0">
                <a:solidFill>
                  <a:srgbClr val="FFFFFF"/>
                </a:solidFill>
              </a:rPr>
              <a:t>$1,000 × 105% product rate × 50% Field Associate contract = $525.</a:t>
            </a:r>
            <a:endParaRPr lang="en-US" sz="1900" dirty="0"/>
          </a:p>
        </p:txBody>
      </p:sp>
      <p:sp>
        <p:nvSpPr>
          <p:cNvPr id="10" name="Text 8"/>
          <p:cNvSpPr/>
          <p:nvPr/>
        </p:nvSpPr>
        <p:spPr>
          <a:xfrm>
            <a:off x="786384" y="3913632"/>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With a split agent</a:t>
            </a:r>
            <a:endParaRPr lang="en-US" sz="1800" dirty="0"/>
          </a:p>
        </p:txBody>
      </p:sp>
      <p:sp>
        <p:nvSpPr>
          <p:cNvPr id="11" name="Text 9"/>
          <p:cNvSpPr/>
          <p:nvPr/>
        </p:nvSpPr>
        <p:spPr>
          <a:xfrm>
            <a:off x="3621024" y="3913632"/>
            <a:ext cx="7589520" cy="996696"/>
          </a:xfrm>
          <a:prstGeom prst="rect">
            <a:avLst/>
          </a:prstGeom>
          <a:noFill/>
          <a:ln/>
        </p:spPr>
        <p:txBody>
          <a:bodyPr wrap="square" lIns="0" tIns="0" rIns="0" bIns="0" rtlCol="0" anchor="ctr"/>
          <a:lstStyle/>
          <a:p>
            <a:pPr indent="0" marL="0">
              <a:buNone/>
            </a:pPr>
            <a:r>
              <a:rPr lang="en-US" sz="1900" dirty="0">
                <a:solidFill>
                  <a:srgbClr val="FFFFFF"/>
                </a:solidFill>
              </a:rPr>
              <a:t>$1,000 × 105% × 50% split × 50% contract = $262.50.</a:t>
            </a:r>
            <a:endParaRPr lang="en-US" sz="1900" dirty="0"/>
          </a:p>
        </p:txBody>
      </p:sp>
      <p:sp>
        <p:nvSpPr>
          <p:cNvPr id="13" name="Text 8"/>
          <p:cNvSpPr/>
          <p:nvPr/>
        </p:nvSpPr>
        <p:spPr>
          <a:xfrm>
            <a:off x="786384" y="5084064"/>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Commissionable premium</a:t>
            </a:r>
            <a:endParaRPr lang="en-US" sz="1800" dirty="0"/>
          </a:p>
        </p:txBody>
      </p:sp>
      <p:sp>
        <p:nvSpPr>
          <p:cNvPr id="14" name="Text 9"/>
          <p:cNvSpPr/>
          <p:nvPr/>
        </p:nvSpPr>
        <p:spPr>
          <a:xfrm>
            <a:off x="3621024" y="5084064"/>
            <a:ext cx="7589520" cy="996696"/>
          </a:xfrm>
          <a:prstGeom prst="rect">
            <a:avLst/>
          </a:prstGeom>
          <a:noFill/>
          <a:ln/>
        </p:spPr>
        <p:txBody>
          <a:bodyPr wrap="square" lIns="0" tIns="0" rIns="0" bIns="0" rtlCol="0" anchor="ctr"/>
          <a:lstStyle/>
          <a:p>
            <a:pPr indent="0" marL="0">
              <a:buNone/>
            </a:pPr>
            <a:r>
              <a:rPr lang="en-US" sz="1900" dirty="0">
                <a:solidFill>
                  <a:srgbClr val="FFFFFF"/>
                </a:solidFill>
              </a:rPr>
              <a:t>The lower of the annual vs. target premium. Check the illustration.</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 Commissions Calculation training slides. PHP’s hypothetical examples; actual rates vary by carrier and product.</a:t>
            </a:r>
            <a:endParaRPr lang="en-US" sz="8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B33"/>
        </a:solidFill>
      </p:bgPr>
    </p:bg>
    <p:spTree>
      <p:nvGrpSpPr>
        <p:cNvPr id="1" name=""/>
        <p:cNvGrpSpPr/>
        <p:nvPr/>
      </p:nvGrpSpPr>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Overrides pay the difference</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 leader’s override is the gap between contract levels.</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INCOME &amp; TIMELINES</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14</a:t>
            </a:r>
            <a:endParaRPr lang="en-US" sz="1000" dirty="0"/>
          </a:p>
        </p:txBody>
      </p:sp>
      <p:sp>
        <p:nvSpPr>
          <p:cNvPr id="6" name="Text 4"/>
          <p:cNvSpPr/>
          <p:nvPr/>
        </p:nvSpPr>
        <p:spPr>
          <a:xfrm>
            <a:off x="786384" y="1554480"/>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The rule</a:t>
            </a:r>
            <a:endParaRPr lang="en-US" sz="1800" dirty="0"/>
          </a:p>
        </p:txBody>
      </p:sp>
      <p:sp>
        <p:nvSpPr>
          <p:cNvPr id="7" name="Text 5"/>
          <p:cNvSpPr/>
          <p:nvPr/>
        </p:nvSpPr>
        <p:spPr>
          <a:xfrm>
            <a:off x="3621024" y="1554480"/>
            <a:ext cx="7589520" cy="996696"/>
          </a:xfrm>
          <a:prstGeom prst="rect">
            <a:avLst/>
          </a:prstGeom>
          <a:noFill/>
          <a:ln/>
        </p:spPr>
        <p:txBody>
          <a:bodyPr wrap="square" lIns="0" tIns="0" rIns="0" bIns="0" rtlCol="0" anchor="ctr"/>
          <a:lstStyle/>
          <a:p>
            <a:pPr indent="0" marL="0">
              <a:buNone/>
            </a:pPr>
            <a:r>
              <a:rPr lang="en-US" sz="1900" dirty="0">
                <a:solidFill>
                  <a:srgbClr val="FFFFFF"/>
                </a:solidFill>
              </a:rPr>
              <a:t>Override = upline’s contract level minus the writing agent’s.</a:t>
            </a:r>
            <a:endParaRPr lang="en-US" sz="1900" dirty="0"/>
          </a:p>
        </p:txBody>
      </p:sp>
      <p:sp>
        <p:nvSpPr>
          <p:cNvPr id="8" name="Text 6"/>
          <p:cNvSpPr/>
          <p:nvPr/>
        </p:nvSpPr>
        <p:spPr>
          <a:xfrm>
            <a:off x="786384" y="2734056"/>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Example</a:t>
            </a:r>
            <a:endParaRPr lang="en-US" sz="1800" dirty="0"/>
          </a:p>
        </p:txBody>
      </p:sp>
      <p:sp>
        <p:nvSpPr>
          <p:cNvPr id="9" name="Text 7"/>
          <p:cNvSpPr/>
          <p:nvPr/>
        </p:nvSpPr>
        <p:spPr>
          <a:xfrm>
            <a:off x="3621024" y="2734056"/>
            <a:ext cx="7589520" cy="996696"/>
          </a:xfrm>
          <a:prstGeom prst="rect">
            <a:avLst/>
          </a:prstGeom>
          <a:noFill/>
          <a:ln/>
        </p:spPr>
        <p:txBody>
          <a:bodyPr wrap="square" lIns="0" tIns="0" rIns="0" bIns="0" rtlCol="0" anchor="ctr"/>
          <a:lstStyle/>
          <a:p>
            <a:pPr indent="0" marL="0">
              <a:buNone/>
            </a:pPr>
            <a:r>
              <a:rPr lang="en-US" sz="1900" dirty="0">
                <a:solidFill>
                  <a:srgbClr val="FFFFFF"/>
                </a:solidFill>
              </a:rPr>
              <a:t>Writing agent FA at 50%, upline MD at 75%: 75% − 50% = 25%.</a:t>
            </a:r>
            <a:endParaRPr lang="en-US" sz="1900" dirty="0"/>
          </a:p>
        </p:txBody>
      </p:sp>
      <p:sp>
        <p:nvSpPr>
          <p:cNvPr id="10" name="Text 8"/>
          <p:cNvSpPr/>
          <p:nvPr/>
        </p:nvSpPr>
        <p:spPr>
          <a:xfrm>
            <a:off x="786384" y="3913632"/>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The math</a:t>
            </a:r>
            <a:endParaRPr lang="en-US" sz="1800" dirty="0"/>
          </a:p>
        </p:txBody>
      </p:sp>
      <p:sp>
        <p:nvSpPr>
          <p:cNvPr id="11" name="Text 9"/>
          <p:cNvSpPr/>
          <p:nvPr/>
        </p:nvSpPr>
        <p:spPr>
          <a:xfrm>
            <a:off x="3621024" y="3913632"/>
            <a:ext cx="7589520" cy="996696"/>
          </a:xfrm>
          <a:prstGeom prst="rect">
            <a:avLst/>
          </a:prstGeom>
          <a:noFill/>
          <a:ln/>
        </p:spPr>
        <p:txBody>
          <a:bodyPr wrap="square" lIns="0" tIns="0" rIns="0" bIns="0" rtlCol="0" anchor="ctr"/>
          <a:lstStyle/>
          <a:p>
            <a:pPr indent="0" marL="0">
              <a:buNone/>
            </a:pPr>
            <a:r>
              <a:rPr lang="en-US" sz="1900" dirty="0">
                <a:solidFill>
                  <a:srgbClr val="FFFFFF"/>
                </a:solidFill>
              </a:rPr>
              <a:t>$1,000 × 105% product rate × 25% = $262.50 override.</a:t>
            </a:r>
            <a:endParaRPr lang="en-US" sz="1900" dirty="0"/>
          </a:p>
        </p:txBody>
      </p:sp>
      <p:sp>
        <p:nvSpPr>
          <p:cNvPr id="13" name="Text 8"/>
          <p:cNvSpPr/>
          <p:nvPr/>
        </p:nvSpPr>
        <p:spPr>
          <a:xfrm>
            <a:off x="786384" y="5084064"/>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Remember</a:t>
            </a:r>
            <a:endParaRPr lang="en-US" sz="1800" dirty="0"/>
          </a:p>
        </p:txBody>
      </p:sp>
      <p:sp>
        <p:nvSpPr>
          <p:cNvPr id="14" name="Text 9"/>
          <p:cNvSpPr/>
          <p:nvPr/>
        </p:nvSpPr>
        <p:spPr>
          <a:xfrm>
            <a:off x="3621024" y="5084064"/>
            <a:ext cx="7589520" cy="996696"/>
          </a:xfrm>
          <a:prstGeom prst="rect">
            <a:avLst/>
          </a:prstGeom>
          <a:noFill/>
          <a:ln/>
        </p:spPr>
        <p:txBody>
          <a:bodyPr wrap="square" lIns="0" tIns="0" rIns="0" bIns="0" rtlCol="0" anchor="ctr"/>
          <a:lstStyle/>
          <a:p>
            <a:pPr indent="0" marL="0">
              <a:buNone/>
            </a:pPr>
            <a:r>
              <a:rPr lang="en-US" sz="1900" dirty="0">
                <a:solidFill>
                  <a:srgbClr val="FFFFFF"/>
                </a:solidFill>
              </a:rPr>
              <a:t>Sponsoring an agent does not pay by itself. Qualifying product business does.</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 Commissions Calculation training slides. Hypothetical example; verify against the current compensation plan.</a:t>
            </a:r>
            <a:endParaRPr lang="en-US" sz="8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1B33"/>
        </a:solidFill>
      </p:bgPr>
    </p:bg>
    <p:spTree>
      <p:nvGrpSpPr>
        <p:cNvPr id="1" name=""/>
        <p:cNvGrpSpPr/>
        <p:nvPr/>
      </p:nvGrpSpPr>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Capped commissions</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Large cases pay in two steps.</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INCOME &amp; TIMELINES</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15</a:t>
            </a:r>
            <a:endParaRPr lang="en-US" sz="1000" dirty="0"/>
          </a:p>
        </p:txBody>
      </p:sp>
      <p:sp>
        <p:nvSpPr>
          <p:cNvPr id="6" name="Text 4"/>
          <p:cNvSpPr/>
          <p:nvPr/>
        </p:nvSpPr>
        <p:spPr>
          <a:xfrm>
            <a:off x="786384" y="1554480"/>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The cap</a:t>
            </a:r>
            <a:endParaRPr lang="en-US" sz="1800" dirty="0"/>
          </a:p>
        </p:txBody>
      </p:sp>
      <p:sp>
        <p:nvSpPr>
          <p:cNvPr id="7" name="Text 5"/>
          <p:cNvSpPr/>
          <p:nvPr/>
        </p:nvSpPr>
        <p:spPr>
          <a:xfrm>
            <a:off x="3621024" y="1554480"/>
            <a:ext cx="7589520" cy="996696"/>
          </a:xfrm>
          <a:prstGeom prst="rect">
            <a:avLst/>
          </a:prstGeom>
          <a:noFill/>
          <a:ln/>
        </p:spPr>
        <p:txBody>
          <a:bodyPr wrap="square" lIns="0" tIns="0" rIns="0" bIns="0" rtlCol="0" anchor="ctr"/>
          <a:lstStyle/>
          <a:p>
            <a:pPr indent="0" marL="0">
              <a:buNone/>
            </a:pPr>
            <a:r>
              <a:rPr lang="en-US" sz="1900" dirty="0">
                <a:solidFill>
                  <a:srgbClr val="FFFFFF"/>
                </a:solidFill>
              </a:rPr>
              <a:t>Commissions are capped at $10,000 before the contract-level grid, on life and annuity cases PHP pays.</a:t>
            </a:r>
            <a:endParaRPr lang="en-US" sz="1900" dirty="0"/>
          </a:p>
        </p:txBody>
      </p:sp>
      <p:sp>
        <p:nvSpPr>
          <p:cNvPr id="8" name="Text 6"/>
          <p:cNvSpPr/>
          <p:nvPr/>
        </p:nvSpPr>
        <p:spPr>
          <a:xfrm>
            <a:off x="786384" y="2734056"/>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The balance</a:t>
            </a:r>
            <a:endParaRPr lang="en-US" sz="1800" dirty="0"/>
          </a:p>
        </p:txBody>
      </p:sp>
      <p:sp>
        <p:nvSpPr>
          <p:cNvPr id="9" name="Text 7"/>
          <p:cNvSpPr/>
          <p:nvPr/>
        </p:nvSpPr>
        <p:spPr>
          <a:xfrm>
            <a:off x="3621024" y="2734056"/>
            <a:ext cx="7589520" cy="996696"/>
          </a:xfrm>
          <a:prstGeom prst="rect">
            <a:avLst/>
          </a:prstGeom>
          <a:noFill/>
          <a:ln/>
        </p:spPr>
        <p:txBody>
          <a:bodyPr wrap="square" lIns="0" tIns="0" rIns="0" bIns="0" rtlCol="0" anchor="ctr"/>
          <a:lstStyle/>
          <a:p>
            <a:pPr indent="0" marL="0">
              <a:buNone/>
            </a:pPr>
            <a:r>
              <a:rPr lang="en-US" sz="1900" dirty="0">
                <a:solidFill>
                  <a:srgbClr val="FFFFFF"/>
                </a:solidFill>
              </a:rPr>
              <a:t>Anything over the cap is paid after the free-look or hold period, if the case is still in force.</a:t>
            </a:r>
            <a:endParaRPr lang="en-US" sz="1900" dirty="0"/>
          </a:p>
        </p:txBody>
      </p:sp>
      <p:sp>
        <p:nvSpPr>
          <p:cNvPr id="10" name="Text 8"/>
          <p:cNvSpPr/>
          <p:nvPr/>
        </p:nvSpPr>
        <p:spPr>
          <a:xfrm>
            <a:off x="786384" y="3913632"/>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Free-look period</a:t>
            </a:r>
            <a:endParaRPr lang="en-US" sz="1800" dirty="0"/>
          </a:p>
        </p:txBody>
      </p:sp>
      <p:sp>
        <p:nvSpPr>
          <p:cNvPr id="11" name="Text 9"/>
          <p:cNvSpPr/>
          <p:nvPr/>
        </p:nvSpPr>
        <p:spPr>
          <a:xfrm>
            <a:off x="3621024" y="3913632"/>
            <a:ext cx="7589520" cy="996696"/>
          </a:xfrm>
          <a:prstGeom prst="rect">
            <a:avLst/>
          </a:prstGeom>
          <a:noFill/>
          <a:ln/>
        </p:spPr>
        <p:txBody>
          <a:bodyPr wrap="square" lIns="0" tIns="0" rIns="0" bIns="0" rtlCol="0" anchor="ctr"/>
          <a:lstStyle/>
          <a:p>
            <a:pPr indent="0" marL="0">
              <a:buNone/>
            </a:pPr>
            <a:r>
              <a:rPr lang="en-US" sz="1900" dirty="0">
                <a:solidFill>
                  <a:srgbClr val="FFFFFF"/>
                </a:solidFill>
              </a:rPr>
              <a:t>10 days from the PDR (policy delivery receipt) date, for life and annuity.</a:t>
            </a:r>
            <a:endParaRPr lang="en-US" sz="1900" dirty="0"/>
          </a:p>
        </p:txBody>
      </p:sp>
      <p:sp>
        <p:nvSpPr>
          <p:cNvPr id="13" name="Text 8"/>
          <p:cNvSpPr/>
          <p:nvPr/>
        </p:nvSpPr>
        <p:spPr>
          <a:xfrm>
            <a:off x="786384" y="5084064"/>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Carrier caps</a:t>
            </a:r>
            <a:endParaRPr lang="en-US" sz="1800" dirty="0"/>
          </a:p>
        </p:txBody>
      </p:sp>
      <p:sp>
        <p:nvSpPr>
          <p:cNvPr id="14" name="Text 9"/>
          <p:cNvSpPr/>
          <p:nvPr/>
        </p:nvSpPr>
        <p:spPr>
          <a:xfrm>
            <a:off x="3621024" y="5084064"/>
            <a:ext cx="7589520" cy="996696"/>
          </a:xfrm>
          <a:prstGeom prst="rect">
            <a:avLst/>
          </a:prstGeom>
          <a:noFill/>
          <a:ln/>
        </p:spPr>
        <p:txBody>
          <a:bodyPr wrap="square" lIns="0" tIns="0" rIns="0" bIns="0" rtlCol="0" anchor="ctr"/>
          <a:lstStyle/>
          <a:p>
            <a:pPr indent="0" marL="0">
              <a:buNone/>
            </a:pPr>
            <a:r>
              <a:rPr lang="en-US" sz="1900" dirty="0">
                <a:solidFill>
                  <a:srgbClr val="FFFFFF"/>
                </a:solidFill>
              </a:rPr>
              <a:t>Carriers may cap at their discretion. The rest is paid once enough premium has been paid to recoup the advance.</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 Capped Commissions training slides.</a:t>
            </a:r>
            <a:endParaRPr lang="en-US" sz="8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1B33"/>
        </a:solidFill>
      </p:bgPr>
    </p:bg>
    <p:spTree>
      <p:nvGrpSpPr>
        <p:cNvPr id="1" name=""/>
        <p:cNvGrpSpPr/>
        <p:nvPr/>
      </p:nvGrpSpPr>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Cap check</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AUDIENCE CHALLENGE</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INCOME &amp; TIMELINES</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16</a:t>
            </a:r>
            <a:endParaRPr lang="en-US" sz="1000" dirty="0"/>
          </a:p>
        </p:txBody>
      </p:sp>
      <p:sp>
        <p:nvSpPr>
          <p:cNvPr id="6" name="Text 4"/>
          <p:cNvSpPr/>
          <p:nvPr/>
        </p:nvSpPr>
        <p:spPr>
          <a:xfrm>
            <a:off x="731520" y="1554480"/>
            <a:ext cx="10607040" cy="1051560"/>
          </a:xfrm>
          <a:prstGeom prst="rect">
            <a:avLst/>
          </a:prstGeom>
          <a:noFill/>
          <a:ln/>
        </p:spPr>
        <p:txBody>
          <a:bodyPr wrap="square" lIns="0" tIns="0" rIns="0" bIns="0" rtlCol="0" anchor="ctr"/>
          <a:lstStyle/>
          <a:p>
            <a:pPr indent="0" marL="0">
              <a:buNone/>
            </a:pPr>
            <a:r>
              <a:rPr lang="en-US" sz="2600" b="1" dirty="0">
                <a:solidFill>
                  <a:srgbClr val="FFFFFF"/>
                </a:solidFill>
              </a:rPr>
              <a:t>A 75% Marketing Director places a $15,000 premium at a 105% product rate. What is paid before the free-look ends?</a:t>
            </a:r>
            <a:endParaRPr lang="en-US" sz="3000" dirty="0"/>
          </a:p>
        </p:txBody>
      </p:sp>
      <p:sp>
        <p:nvSpPr>
          <p:cNvPr id="7" name="Text 5"/>
          <p:cNvSpPr/>
          <p:nvPr/>
        </p:nvSpPr>
        <p:spPr>
          <a:xfrm>
            <a:off x="777240" y="283464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A</a:t>
            </a:r>
            <a:endParaRPr lang="en-US" sz="2800" dirty="0"/>
          </a:p>
        </p:txBody>
      </p:sp>
      <p:sp>
        <p:nvSpPr>
          <p:cNvPr id="8" name="Text 6"/>
          <p:cNvSpPr/>
          <p:nvPr/>
        </p:nvSpPr>
        <p:spPr>
          <a:xfrm>
            <a:off x="1417320" y="2834640"/>
            <a:ext cx="9692640" cy="594360"/>
          </a:xfrm>
          <a:prstGeom prst="rect">
            <a:avLst/>
          </a:prstGeom>
          <a:noFill/>
          <a:ln/>
        </p:spPr>
        <p:txBody>
          <a:bodyPr wrap="square" lIns="0" tIns="0" rIns="0" bIns="0" rtlCol="0" anchor="ctr"/>
          <a:lstStyle/>
          <a:p>
            <a:pPr indent="0" marL="0">
              <a:buNone/>
            </a:pPr>
            <a:r>
              <a:rPr lang="en-US" sz="2300" dirty="0">
                <a:solidFill>
                  <a:srgbClr val="FFFFFF"/>
                </a:solidFill>
              </a:rPr>
              <a:t>$11,812.50 — the full 75% of $15,750</a:t>
            </a:r>
            <a:endParaRPr lang="en-US" sz="2300" dirty="0"/>
          </a:p>
        </p:txBody>
      </p:sp>
      <p:sp>
        <p:nvSpPr>
          <p:cNvPr id="9" name="Text 7"/>
          <p:cNvSpPr/>
          <p:nvPr/>
        </p:nvSpPr>
        <p:spPr>
          <a:xfrm>
            <a:off x="777240" y="361188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B</a:t>
            </a:r>
            <a:endParaRPr lang="en-US" sz="2800" dirty="0"/>
          </a:p>
        </p:txBody>
      </p:sp>
      <p:sp>
        <p:nvSpPr>
          <p:cNvPr id="10" name="Text 8"/>
          <p:cNvSpPr/>
          <p:nvPr/>
        </p:nvSpPr>
        <p:spPr>
          <a:xfrm>
            <a:off x="1417320" y="3611880"/>
            <a:ext cx="9692640" cy="594360"/>
          </a:xfrm>
          <a:prstGeom prst="rect">
            <a:avLst/>
          </a:prstGeom>
          <a:noFill/>
          <a:ln/>
        </p:spPr>
        <p:txBody>
          <a:bodyPr wrap="square" lIns="0" tIns="0" rIns="0" bIns="0" rtlCol="0" anchor="ctr"/>
          <a:lstStyle/>
          <a:p>
            <a:pPr indent="0" marL="0">
              <a:buNone/>
            </a:pPr>
            <a:r>
              <a:rPr lang="en-US" sz="2300" dirty="0">
                <a:solidFill>
                  <a:srgbClr val="FFFFFF"/>
                </a:solidFill>
              </a:rPr>
              <a:t>$7,500 — 75% of the $10,000 cap</a:t>
            </a:r>
            <a:endParaRPr lang="en-US" sz="2300" dirty="0"/>
          </a:p>
        </p:txBody>
      </p:sp>
      <p:sp>
        <p:nvSpPr>
          <p:cNvPr id="11" name="Text 9"/>
          <p:cNvSpPr/>
          <p:nvPr/>
        </p:nvSpPr>
        <p:spPr>
          <a:xfrm>
            <a:off x="777240" y="4389120"/>
            <a:ext cx="457200" cy="548640"/>
          </a:xfrm>
          <a:prstGeom prst="rect">
            <a:avLst/>
          </a:prstGeom>
          <a:noFill/>
          <a:ln/>
        </p:spPr>
        <p:txBody>
          <a:bodyPr wrap="square" lIns="0" tIns="0" rIns="0" bIns="0" rtlCol="0" anchor="ctr"/>
          <a:lstStyle/>
          <a:p>
            <a:pPr indent="0" marL="0">
              <a:buNone/>
            </a:pPr>
            <a:r>
              <a:rPr lang="en-US" sz="2800" b="1" dirty="0">
                <a:solidFill>
                  <a:srgbClr val="D5A94C"/>
                </a:solidFill>
              </a:rPr>
              <a:t>C</a:t>
            </a:r>
            <a:endParaRPr lang="en-US" sz="2800" dirty="0"/>
          </a:p>
        </p:txBody>
      </p:sp>
      <p:sp>
        <p:nvSpPr>
          <p:cNvPr id="12" name="Text 10"/>
          <p:cNvSpPr/>
          <p:nvPr/>
        </p:nvSpPr>
        <p:spPr>
          <a:xfrm>
            <a:off x="1417320" y="4389120"/>
            <a:ext cx="9692640" cy="594360"/>
          </a:xfrm>
          <a:prstGeom prst="rect">
            <a:avLst/>
          </a:prstGeom>
          <a:noFill/>
          <a:ln/>
        </p:spPr>
        <p:txBody>
          <a:bodyPr wrap="square" lIns="0" tIns="0" rIns="0" bIns="0" rtlCol="0" anchor="ctr"/>
          <a:lstStyle/>
          <a:p>
            <a:pPr indent="0" marL="0">
              <a:buNone/>
            </a:pPr>
            <a:r>
              <a:rPr lang="en-US" sz="2300" dirty="0">
                <a:solidFill>
                  <a:srgbClr val="FFFFFF"/>
                </a:solidFill>
              </a:rPr>
              <a:t>$4,312.50 — only the balance after free-look</a:t>
            </a:r>
            <a:endParaRPr lang="en-US" sz="23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1B33"/>
        </a:solidFill>
      </p:bgPr>
    </p:bg>
    <p:spTree>
      <p:nvGrpSpPr>
        <p:cNvPr id="1" name=""/>
        <p:cNvGrpSpPr/>
        <p:nvPr/>
      </p:nvGrpSpPr>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When points count</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Points and pay run on different clocks.</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INCOME &amp; TIMELINES</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17</a:t>
            </a:r>
            <a:endParaRPr lang="en-US" sz="1000" dirty="0"/>
          </a:p>
        </p:txBody>
      </p:sp>
      <p:sp>
        <p:nvSpPr>
          <p:cNvPr id="6" name="Text 4"/>
          <p:cNvSpPr/>
          <p:nvPr/>
        </p:nvSpPr>
        <p:spPr>
          <a:xfrm>
            <a:off x="786384" y="1554480"/>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Life applications</a:t>
            </a:r>
            <a:endParaRPr lang="en-US" sz="1800" dirty="0"/>
          </a:p>
        </p:txBody>
      </p:sp>
      <p:sp>
        <p:nvSpPr>
          <p:cNvPr id="7" name="Text 5"/>
          <p:cNvSpPr/>
          <p:nvPr/>
        </p:nvSpPr>
        <p:spPr>
          <a:xfrm>
            <a:off x="3621024" y="1554480"/>
            <a:ext cx="7589520" cy="996696"/>
          </a:xfrm>
          <a:prstGeom prst="rect">
            <a:avLst/>
          </a:prstGeom>
          <a:noFill/>
          <a:ln/>
        </p:spPr>
        <p:txBody>
          <a:bodyPr wrap="square" lIns="0" tIns="0" rIns="0" bIns="0" rtlCol="0" anchor="ctr"/>
          <a:lstStyle/>
          <a:p>
            <a:pPr indent="0" marL="0">
              <a:buNone/>
            </a:pPr>
            <a:r>
              <a:rPr lang="en-US" sz="1900" dirty="0">
                <a:solidFill>
                  <a:srgbClr val="FFFFFF"/>
                </a:solidFill>
              </a:rPr>
              <a:t>Submission points are capped at 3,000 (5,000 with an exam barcode). The rest comes at placement.</a:t>
            </a:r>
            <a:endParaRPr lang="en-US" sz="1900" dirty="0"/>
          </a:p>
        </p:txBody>
      </p:sp>
      <p:sp>
        <p:nvSpPr>
          <p:cNvPr id="8" name="Text 6"/>
          <p:cNvSpPr/>
          <p:nvPr/>
        </p:nvSpPr>
        <p:spPr>
          <a:xfrm>
            <a:off x="786384" y="2734056"/>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Annuities</a:t>
            </a:r>
            <a:endParaRPr lang="en-US" sz="1800" dirty="0"/>
          </a:p>
        </p:txBody>
      </p:sp>
      <p:sp>
        <p:nvSpPr>
          <p:cNvPr id="9" name="Text 7"/>
          <p:cNvSpPr/>
          <p:nvPr/>
        </p:nvSpPr>
        <p:spPr>
          <a:xfrm>
            <a:off x="3621024" y="2734056"/>
            <a:ext cx="7589520" cy="996696"/>
          </a:xfrm>
          <a:prstGeom prst="rect">
            <a:avLst/>
          </a:prstGeom>
          <a:noFill/>
          <a:ln/>
        </p:spPr>
        <p:txBody>
          <a:bodyPr wrap="square" lIns="0" tIns="0" rIns="0" bIns="0" rtlCol="0" anchor="ctr"/>
          <a:lstStyle/>
          <a:p>
            <a:pPr indent="0" marL="0">
              <a:buNone/>
            </a:pPr>
            <a:r>
              <a:rPr lang="en-US" sz="1900" dirty="0">
                <a:solidFill>
                  <a:srgbClr val="FFFFFF"/>
                </a:solidFill>
              </a:rPr>
              <a:t>Zero points at submission. Full points at placement (rule effective April 1, 2023).</a:t>
            </a:r>
            <a:endParaRPr lang="en-US" sz="1900" dirty="0"/>
          </a:p>
        </p:txBody>
      </p:sp>
      <p:sp>
        <p:nvSpPr>
          <p:cNvPr id="10" name="Text 8"/>
          <p:cNvSpPr/>
          <p:nvPr/>
        </p:nvSpPr>
        <p:spPr>
          <a:xfrm>
            <a:off x="786384" y="3913632"/>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Zero-point life cases</a:t>
            </a:r>
            <a:endParaRPr lang="en-US" sz="1800" dirty="0"/>
          </a:p>
        </p:txBody>
      </p:sp>
      <p:sp>
        <p:nvSpPr>
          <p:cNvPr id="11" name="Text 9"/>
          <p:cNvSpPr/>
          <p:nvPr/>
        </p:nvSpPr>
        <p:spPr>
          <a:xfrm>
            <a:off x="3621024" y="3913632"/>
            <a:ext cx="7589520" cy="996696"/>
          </a:xfrm>
          <a:prstGeom prst="rect">
            <a:avLst/>
          </a:prstGeom>
          <a:noFill/>
          <a:ln/>
        </p:spPr>
        <p:txBody>
          <a:bodyPr wrap="square" lIns="0" tIns="0" rIns="0" bIns="0" rtlCol="0" anchor="ctr"/>
          <a:lstStyle/>
          <a:p>
            <a:pPr indent="0" marL="0">
              <a:buNone/>
            </a:pPr>
            <a:r>
              <a:rPr lang="en-US" sz="1900" dirty="0">
                <a:solidFill>
                  <a:srgbClr val="FFFFFF"/>
                </a:solidFill>
              </a:rPr>
              <a:t>Lump-sum or 1035 funding and internal replacements earn no points.</a:t>
            </a:r>
            <a:endParaRPr lang="en-US" sz="1900" dirty="0"/>
          </a:p>
        </p:txBody>
      </p:sp>
      <p:sp>
        <p:nvSpPr>
          <p:cNvPr id="13" name="Text 8"/>
          <p:cNvSpPr/>
          <p:nvPr/>
        </p:nvSpPr>
        <p:spPr>
          <a:xfrm>
            <a:off x="786384" y="5084064"/>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Close-out</a:t>
            </a:r>
            <a:endParaRPr lang="en-US" sz="1800" dirty="0"/>
          </a:p>
        </p:txBody>
      </p:sp>
      <p:sp>
        <p:nvSpPr>
          <p:cNvPr id="14" name="Text 9"/>
          <p:cNvSpPr/>
          <p:nvPr/>
        </p:nvSpPr>
        <p:spPr>
          <a:xfrm>
            <a:off x="3621024" y="5084064"/>
            <a:ext cx="7589520" cy="996696"/>
          </a:xfrm>
          <a:prstGeom prst="rect">
            <a:avLst/>
          </a:prstGeom>
          <a:noFill/>
          <a:ln/>
        </p:spPr>
        <p:txBody>
          <a:bodyPr wrap="square" lIns="0" tIns="0" rIns="0" bIns="0" rtlCol="0" anchor="ctr"/>
          <a:lstStyle/>
          <a:p>
            <a:pPr indent="0" marL="0">
              <a:buNone/>
            </a:pPr>
            <a:r>
              <a:rPr lang="en-US" sz="1900" dirty="0">
                <a:solidFill>
                  <a:srgbClr val="FFFFFF"/>
                </a:solidFill>
              </a:rPr>
              <a:t>Applications must be in good order and received by 1:59:59 AM CST on close-out day.</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Life IGO Checklist (rev. 02/01/2022); Annuity IGO Checklist (rev. 10/10/2023); Home Office Bulletin 03/14/2023. PHP may adjust or hold points.</a:t>
            </a:r>
            <a:endParaRPr lang="en-US" sz="8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1B33"/>
        </a:solidFill>
      </p:bgPr>
    </p:bg>
    <p:spTree>
      <p:nvGrpSpPr>
        <p:cNvPr id="1" name=""/>
        <p:cNvGrpSpPr/>
        <p:nvPr/>
      </p:nvGrpSpPr>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When cash arrives</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Commission lags the client’s first payment.</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INCOME &amp; TIMELINES</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18</a:t>
            </a:r>
            <a:endParaRPr lang="en-US" sz="1000" dirty="0"/>
          </a:p>
        </p:txBody>
      </p:sp>
      <p:sp>
        <p:nvSpPr>
          <p:cNvPr id="6" name="Text 4"/>
          <p:cNvSpPr/>
          <p:nvPr/>
        </p:nvSpPr>
        <p:spPr>
          <a:xfrm>
            <a:off x="786384" y="1554480"/>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Carrier statements</a:t>
            </a:r>
            <a:endParaRPr lang="en-US" sz="1800" dirty="0"/>
          </a:p>
        </p:txBody>
      </p:sp>
      <p:sp>
        <p:nvSpPr>
          <p:cNvPr id="7" name="Text 5"/>
          <p:cNvSpPr/>
          <p:nvPr/>
        </p:nvSpPr>
        <p:spPr>
          <a:xfrm>
            <a:off x="3621024" y="1554480"/>
            <a:ext cx="7589520" cy="996696"/>
          </a:xfrm>
          <a:prstGeom prst="rect">
            <a:avLst/>
          </a:prstGeom>
          <a:noFill/>
          <a:ln/>
        </p:spPr>
        <p:txBody>
          <a:bodyPr wrap="square" lIns="0" tIns="0" rIns="0" bIns="0" rtlCol="0" anchor="ctr"/>
          <a:lstStyle/>
          <a:p>
            <a:pPr indent="0" marL="0">
              <a:buNone/>
            </a:pPr>
            <a:r>
              <a:rPr lang="en-US" sz="1900" dirty="0">
                <a:solidFill>
                  <a:srgbClr val="FFFFFF"/>
                </a:solidFill>
              </a:rPr>
              <a:t>NLG and F&amp;G send statements daily. Expect about a two-day delay from the carrier posting a payment to commission in Bamboo.</a:t>
            </a:r>
            <a:endParaRPr lang="en-US" sz="1900" dirty="0"/>
          </a:p>
        </p:txBody>
      </p:sp>
      <p:sp>
        <p:nvSpPr>
          <p:cNvPr id="8" name="Text 6"/>
          <p:cNvSpPr/>
          <p:nvPr/>
        </p:nvSpPr>
        <p:spPr>
          <a:xfrm>
            <a:off x="786384" y="2734056"/>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Example</a:t>
            </a:r>
            <a:endParaRPr lang="en-US" sz="1800" dirty="0"/>
          </a:p>
        </p:txBody>
      </p:sp>
      <p:sp>
        <p:nvSpPr>
          <p:cNvPr id="9" name="Text 7"/>
          <p:cNvSpPr/>
          <p:nvPr/>
        </p:nvSpPr>
        <p:spPr>
          <a:xfrm>
            <a:off x="3621024" y="2734056"/>
            <a:ext cx="7589520" cy="996696"/>
          </a:xfrm>
          <a:prstGeom prst="rect">
            <a:avLst/>
          </a:prstGeom>
          <a:noFill/>
          <a:ln/>
        </p:spPr>
        <p:txBody>
          <a:bodyPr wrap="square" lIns="0" tIns="0" rIns="0" bIns="0" rtlCol="0" anchor="ctr"/>
          <a:lstStyle/>
          <a:p>
            <a:pPr indent="0" marL="0">
              <a:buNone/>
            </a:pPr>
            <a:r>
              <a:rPr lang="en-US" sz="1900" dirty="0">
                <a:solidFill>
                  <a:srgbClr val="FFFFFF"/>
                </a:solidFill>
              </a:rPr>
              <a:t>Carrier posts Monday. Statement reviewed Tuesday. Paid in Wednesday’s cycle.</a:t>
            </a:r>
            <a:endParaRPr lang="en-US" sz="1900" dirty="0"/>
          </a:p>
        </p:txBody>
      </p:sp>
      <p:sp>
        <p:nvSpPr>
          <p:cNvPr id="10" name="Text 8"/>
          <p:cNvSpPr/>
          <p:nvPr/>
        </p:nvSpPr>
        <p:spPr>
          <a:xfrm>
            <a:off x="786384" y="3913632"/>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QC review</a:t>
            </a:r>
            <a:endParaRPr lang="en-US" sz="1800" dirty="0"/>
          </a:p>
        </p:txBody>
      </p:sp>
      <p:sp>
        <p:nvSpPr>
          <p:cNvPr id="11" name="Text 9"/>
          <p:cNvSpPr/>
          <p:nvPr/>
        </p:nvSpPr>
        <p:spPr>
          <a:xfrm>
            <a:off x="3621024" y="3913632"/>
            <a:ext cx="7589520" cy="996696"/>
          </a:xfrm>
          <a:prstGeom prst="rect">
            <a:avLst/>
          </a:prstGeom>
          <a:noFill/>
          <a:ln/>
        </p:spPr>
        <p:txBody>
          <a:bodyPr wrap="square" lIns="0" tIns="0" rIns="0" bIns="0" rtlCol="0" anchor="ctr"/>
          <a:lstStyle/>
          <a:p>
            <a:pPr indent="0" marL="0">
              <a:buNone/>
            </a:pPr>
            <a:r>
              <a:rPr lang="en-US" sz="1900" dirty="0">
                <a:solidFill>
                  <a:srgbClr val="FFFFFF"/>
                </a:solidFill>
              </a:rPr>
              <a:t>Premium over $5,000: commission is held until quality-control requirements are met.</a:t>
            </a:r>
            <a:endParaRPr lang="en-US" sz="1900" dirty="0"/>
          </a:p>
        </p:txBody>
      </p:sp>
      <p:sp>
        <p:nvSpPr>
          <p:cNvPr id="13" name="Text 8"/>
          <p:cNvSpPr/>
          <p:nvPr/>
        </p:nvSpPr>
        <p:spPr>
          <a:xfrm>
            <a:off x="786384" y="5084064"/>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Who is exempt</a:t>
            </a:r>
            <a:endParaRPr lang="en-US" sz="1800" dirty="0"/>
          </a:p>
        </p:txBody>
      </p:sp>
      <p:sp>
        <p:nvSpPr>
          <p:cNvPr id="14" name="Text 9"/>
          <p:cNvSpPr/>
          <p:nvPr/>
        </p:nvSpPr>
        <p:spPr>
          <a:xfrm>
            <a:off x="3621024" y="5084064"/>
            <a:ext cx="7589520" cy="996696"/>
          </a:xfrm>
          <a:prstGeom prst="rect">
            <a:avLst/>
          </a:prstGeom>
          <a:noFill/>
          <a:ln/>
        </p:spPr>
        <p:txBody>
          <a:bodyPr wrap="square" lIns="0" tIns="0" rIns="0" bIns="0" rtlCol="0" anchor="ctr"/>
          <a:lstStyle/>
          <a:p>
            <a:pPr indent="0" marL="0">
              <a:buNone/>
            </a:pPr>
            <a:r>
              <a:rPr lang="en-US" sz="1900" dirty="0">
                <a:solidFill>
                  <a:srgbClr val="FFFFFF"/>
                </a:solidFill>
              </a:rPr>
              <a:t>President’s Council and above (writing agent only); qualifying $100K+ Senior MDs with 70%+ placement.</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NLG &amp; F&amp;G Daily Commissions slides; Life IGO Checklist (rev. 02/01/2022) for QC and exemptions; Carrier Cutoff Schedule.</a:t>
            </a:r>
            <a:endParaRPr lang="en-US" sz="8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1B33"/>
        </a:solidFill>
      </p:bgPr>
    </p:bg>
    <p:spTree>
      <p:nvGrpSpPr>
        <p:cNvPr id="1" name=""/>
        <p:cNvGrpSpPr/>
        <p:nvPr/>
      </p:nvGrpSpPr>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Weekly carrier cutoffs</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Cutoff days by carrier.</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INCOME &amp; TIMELINES</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19</a:t>
            </a:r>
            <a:endParaRPr lang="en-US" sz="1000" dirty="0"/>
          </a:p>
        </p:txBody>
      </p:sp>
      <p:sp>
        <p:nvSpPr>
          <p:cNvPr id="6" name="Text 4"/>
          <p:cNvSpPr/>
          <p:nvPr/>
        </p:nvSpPr>
        <p:spPr>
          <a:xfrm>
            <a:off x="786384" y="1481328"/>
            <a:ext cx="2743200" cy="822960"/>
          </a:xfrm>
          <a:prstGeom prst="rect">
            <a:avLst/>
          </a:prstGeom>
          <a:noFill/>
          <a:ln/>
        </p:spPr>
        <p:txBody>
          <a:bodyPr wrap="square" lIns="0" tIns="0" rIns="0" bIns="0" rtlCol="0" anchor="ctr"/>
          <a:lstStyle/>
          <a:p>
            <a:pPr indent="0" marL="0">
              <a:buNone/>
            </a:pPr>
            <a:r>
              <a:rPr lang="en-US" sz="1700" b="1" dirty="0">
                <a:solidFill>
                  <a:srgbClr val="D5A94C"/>
                </a:solidFill>
              </a:rPr>
              <a:t>Monday</a:t>
            </a:r>
            <a:endParaRPr lang="en-US" sz="1800" dirty="0"/>
          </a:p>
        </p:txBody>
      </p:sp>
      <p:sp>
        <p:nvSpPr>
          <p:cNvPr id="7" name="Text 5"/>
          <p:cNvSpPr/>
          <p:nvPr/>
        </p:nvSpPr>
        <p:spPr>
          <a:xfrm>
            <a:off x="3621024" y="1481328"/>
            <a:ext cx="7589520" cy="822960"/>
          </a:xfrm>
          <a:prstGeom prst="rect">
            <a:avLst/>
          </a:prstGeom>
          <a:noFill/>
          <a:ln/>
        </p:spPr>
        <p:txBody>
          <a:bodyPr wrap="square" lIns="0" tIns="0" rIns="0" bIns="0" rtlCol="0" anchor="ctr"/>
          <a:lstStyle/>
          <a:p>
            <a:pPr indent="0" marL="0">
              <a:buNone/>
            </a:pPr>
            <a:r>
              <a:rPr lang="en-US" sz="1700" dirty="0">
                <a:solidFill>
                  <a:srgbClr val="FFFFFF"/>
                </a:solidFill>
              </a:rPr>
              <a:t>NLG  ·  F&amp;G  ·  Daily annuity carriers</a:t>
            </a:r>
            <a:endParaRPr lang="en-US" sz="1900" dirty="0"/>
          </a:p>
        </p:txBody>
      </p:sp>
      <p:sp>
        <p:nvSpPr>
          <p:cNvPr id="8" name="Text 6"/>
          <p:cNvSpPr/>
          <p:nvPr/>
        </p:nvSpPr>
        <p:spPr>
          <a:xfrm>
            <a:off x="786384" y="2377440"/>
            <a:ext cx="2743200" cy="822960"/>
          </a:xfrm>
          <a:prstGeom prst="rect">
            <a:avLst/>
          </a:prstGeom>
          <a:noFill/>
          <a:ln/>
        </p:spPr>
        <p:txBody>
          <a:bodyPr wrap="square" lIns="0" tIns="0" rIns="0" bIns="0" rtlCol="0" anchor="ctr"/>
          <a:lstStyle/>
          <a:p>
            <a:pPr indent="0" marL="0">
              <a:buNone/>
            </a:pPr>
            <a:r>
              <a:rPr lang="en-US" sz="1700" b="1" dirty="0">
                <a:solidFill>
                  <a:srgbClr val="D5A94C"/>
                </a:solidFill>
              </a:rPr>
              <a:t>Tuesday</a:t>
            </a:r>
            <a:endParaRPr lang="en-US" sz="1800" dirty="0"/>
          </a:p>
        </p:txBody>
      </p:sp>
      <p:sp>
        <p:nvSpPr>
          <p:cNvPr id="9" name="Text 7"/>
          <p:cNvSpPr/>
          <p:nvPr/>
        </p:nvSpPr>
        <p:spPr>
          <a:xfrm>
            <a:off x="3621024" y="2377440"/>
            <a:ext cx="7589520" cy="822960"/>
          </a:xfrm>
          <a:prstGeom prst="rect">
            <a:avLst/>
          </a:prstGeom>
          <a:noFill/>
          <a:ln/>
        </p:spPr>
        <p:txBody>
          <a:bodyPr wrap="square" lIns="0" tIns="0" rIns="0" bIns="0" rtlCol="0" anchor="ctr"/>
          <a:lstStyle/>
          <a:p>
            <a:pPr indent="0" marL="0">
              <a:buNone/>
            </a:pPr>
            <a:r>
              <a:rPr lang="en-US" sz="1700" dirty="0">
                <a:solidFill>
                  <a:srgbClr val="FFFFFF"/>
                </a:solidFill>
              </a:rPr>
              <a:t>MOO (2:30 PM CST)  ·  NLG  ·  F&amp;G  ·  Daily annuity carriers</a:t>
            </a:r>
            <a:endParaRPr lang="en-US" sz="1900" dirty="0"/>
          </a:p>
        </p:txBody>
      </p:sp>
      <p:sp>
        <p:nvSpPr>
          <p:cNvPr id="10" name="Text 8"/>
          <p:cNvSpPr/>
          <p:nvPr/>
        </p:nvSpPr>
        <p:spPr>
          <a:xfrm>
            <a:off x="786384" y="3273552"/>
            <a:ext cx="2743200" cy="822960"/>
          </a:xfrm>
          <a:prstGeom prst="rect">
            <a:avLst/>
          </a:prstGeom>
          <a:noFill/>
          <a:ln/>
        </p:spPr>
        <p:txBody>
          <a:bodyPr wrap="square" lIns="0" tIns="0" rIns="0" bIns="0" rtlCol="0" anchor="ctr"/>
          <a:lstStyle/>
          <a:p>
            <a:pPr indent="0" marL="0">
              <a:buNone/>
            </a:pPr>
            <a:r>
              <a:rPr lang="en-US" sz="1700" b="1" dirty="0">
                <a:solidFill>
                  <a:srgbClr val="D5A94C"/>
                </a:solidFill>
              </a:rPr>
              <a:t>Wednesday</a:t>
            </a:r>
            <a:endParaRPr lang="en-US" sz="1800" dirty="0"/>
          </a:p>
        </p:txBody>
      </p:sp>
      <p:sp>
        <p:nvSpPr>
          <p:cNvPr id="11" name="Text 9"/>
          <p:cNvSpPr/>
          <p:nvPr/>
        </p:nvSpPr>
        <p:spPr>
          <a:xfrm>
            <a:off x="3621024" y="3273552"/>
            <a:ext cx="7589520" cy="822960"/>
          </a:xfrm>
          <a:prstGeom prst="rect">
            <a:avLst/>
          </a:prstGeom>
          <a:noFill/>
          <a:ln/>
        </p:spPr>
        <p:txBody>
          <a:bodyPr wrap="square" lIns="0" tIns="0" rIns="0" bIns="0" rtlCol="0" anchor="ctr"/>
          <a:lstStyle/>
          <a:p>
            <a:pPr indent="0" marL="0">
              <a:buNone/>
            </a:pPr>
            <a:r>
              <a:rPr lang="en-US" sz="1700" dirty="0">
                <a:solidFill>
                  <a:srgbClr val="FFFFFF"/>
                </a:solidFill>
              </a:rPr>
              <a:t>Foresters  ·  NLG  ·  F&amp;G  ·  Daily annuity carriers</a:t>
            </a:r>
            <a:endParaRPr lang="en-US" sz="1900" dirty="0"/>
          </a:p>
        </p:txBody>
      </p:sp>
      <p:sp>
        <p:nvSpPr>
          <p:cNvPr id="13" name="Text 8"/>
          <p:cNvSpPr/>
          <p:nvPr/>
        </p:nvSpPr>
        <p:spPr>
          <a:xfrm>
            <a:off x="786384" y="4169664"/>
            <a:ext cx="2743200" cy="822960"/>
          </a:xfrm>
          <a:prstGeom prst="rect">
            <a:avLst/>
          </a:prstGeom>
          <a:noFill/>
          <a:ln/>
        </p:spPr>
        <p:txBody>
          <a:bodyPr wrap="square" lIns="0" tIns="0" rIns="0" bIns="0" rtlCol="0" anchor="ctr"/>
          <a:lstStyle/>
          <a:p>
            <a:pPr indent="0" marL="0">
              <a:buNone/>
            </a:pPr>
            <a:r>
              <a:rPr lang="en-US" sz="1700" b="1" dirty="0">
                <a:solidFill>
                  <a:srgbClr val="D5A94C"/>
                </a:solidFill>
              </a:rPr>
              <a:t>Thursday</a:t>
            </a:r>
            <a:endParaRPr lang="en-US" sz="1800" dirty="0"/>
          </a:p>
        </p:txBody>
      </p:sp>
      <p:sp>
        <p:nvSpPr>
          <p:cNvPr id="14" name="Text 9"/>
          <p:cNvSpPr/>
          <p:nvPr/>
        </p:nvSpPr>
        <p:spPr>
          <a:xfrm>
            <a:off x="3621024" y="4169664"/>
            <a:ext cx="7589520" cy="822960"/>
          </a:xfrm>
          <a:prstGeom prst="rect">
            <a:avLst/>
          </a:prstGeom>
          <a:noFill/>
          <a:ln/>
        </p:spPr>
        <p:txBody>
          <a:bodyPr wrap="square" lIns="0" tIns="0" rIns="0" bIns="0" rtlCol="0" anchor="ctr"/>
          <a:lstStyle/>
          <a:p>
            <a:pPr indent="0" marL="0">
              <a:buNone/>
            </a:pPr>
            <a:r>
              <a:rPr lang="en-US" sz="1700" dirty="0">
                <a:solidFill>
                  <a:srgbClr val="FFFFFF"/>
                </a:solidFill>
              </a:rPr>
              <a:t>NLG  ·  F&amp;G  ·  Daily annuity carriers</a:t>
            </a:r>
            <a:endParaRPr lang="en-US" sz="1900" dirty="0"/>
          </a:p>
        </p:txBody>
      </p:sp>
      <p:sp>
        <p:nvSpPr>
          <p:cNvPr id="15" name="Text 8"/>
          <p:cNvSpPr/>
          <p:nvPr/>
        </p:nvSpPr>
        <p:spPr>
          <a:xfrm>
            <a:off x="786384" y="5065776"/>
            <a:ext cx="2743200" cy="822960"/>
          </a:xfrm>
          <a:prstGeom prst="rect">
            <a:avLst/>
          </a:prstGeom>
          <a:noFill/>
          <a:ln/>
        </p:spPr>
        <p:txBody>
          <a:bodyPr wrap="square" lIns="0" tIns="0" rIns="0" bIns="0" rtlCol="0" anchor="ctr"/>
          <a:lstStyle/>
          <a:p>
            <a:pPr indent="0" marL="0">
              <a:buNone/>
            </a:pPr>
            <a:r>
              <a:rPr lang="en-US" sz="1700" b="1" dirty="0">
                <a:solidFill>
                  <a:srgbClr val="D5A94C"/>
                </a:solidFill>
              </a:rPr>
              <a:t>Friday</a:t>
            </a:r>
            <a:endParaRPr lang="en-US" sz="1800" dirty="0"/>
          </a:p>
        </p:txBody>
      </p:sp>
      <p:sp>
        <p:nvSpPr>
          <p:cNvPr id="16" name="Text 9"/>
          <p:cNvSpPr/>
          <p:nvPr/>
        </p:nvSpPr>
        <p:spPr>
          <a:xfrm>
            <a:off x="3621024" y="5065776"/>
            <a:ext cx="7589520" cy="822960"/>
          </a:xfrm>
          <a:prstGeom prst="rect">
            <a:avLst/>
          </a:prstGeom>
          <a:noFill/>
          <a:ln/>
        </p:spPr>
        <p:txBody>
          <a:bodyPr wrap="square" lIns="0" tIns="0" rIns="0" bIns="0" rtlCol="0" anchor="ctr"/>
          <a:lstStyle/>
          <a:p>
            <a:pPr indent="0" marL="0">
              <a:buNone/>
            </a:pPr>
            <a:r>
              <a:rPr lang="en-US" sz="1700" dirty="0">
                <a:solidFill>
                  <a:srgbClr val="FFFFFF"/>
                </a:solidFill>
              </a:rPr>
              <a:t>AIG · North American · Anico · Aetna · PacLife · Nationwide · F&amp;G · NLG · Daily annuity</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 Carrier Cutoff Schedule. Annuity PDRs are due the prior day by 5 PM CST (allow 1 business day): phpannuityplacement@phpagency.com.</a:t>
            </a:r>
            <a:endParaRPr lang="en-US" sz="8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1B33"/>
        </a:solidFill>
      </p:bgPr>
    </p:bg>
    <p:spTree>
      <p:nvGrpSpPr>
        <p:cNvPr id="1" name=""/>
        <p:cNvGrpSpPr/>
        <p:nvPr/>
      </p:nvGrpSpPr>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Generational overrides</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Leaders can earn overrides on the MD generations beneath them.</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INCOME &amp; TIMELINES</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20</a:t>
            </a:r>
            <a:endParaRPr lang="en-US" sz="1000" dirty="0"/>
          </a:p>
        </p:txBody>
      </p:sp>
      <p:sp>
        <p:nvSpPr>
          <p:cNvPr id="6" name="Text 4"/>
          <p:cNvSpPr/>
          <p:nvPr/>
        </p:nvSpPr>
        <p:spPr>
          <a:xfrm>
            <a:off x="786384" y="1554480"/>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The rates</a:t>
            </a:r>
            <a:endParaRPr lang="en-US" sz="1800" dirty="0"/>
          </a:p>
        </p:txBody>
      </p:sp>
      <p:sp>
        <p:nvSpPr>
          <p:cNvPr id="7" name="Text 5"/>
          <p:cNvSpPr/>
          <p:nvPr/>
        </p:nvSpPr>
        <p:spPr>
          <a:xfrm>
            <a:off x="3621024" y="1554480"/>
            <a:ext cx="7589520" cy="996696"/>
          </a:xfrm>
          <a:prstGeom prst="rect">
            <a:avLst/>
          </a:prstGeom>
          <a:noFill/>
          <a:ln/>
        </p:spPr>
        <p:txBody>
          <a:bodyPr wrap="square" lIns="0" tIns="0" rIns="0" bIns="0" rtlCol="0" anchor="ctr"/>
          <a:lstStyle/>
          <a:p>
            <a:pPr indent="0" marL="0">
              <a:buNone/>
            </a:pPr>
            <a:r>
              <a:rPr lang="en-US" sz="1900" dirty="0">
                <a:solidFill>
                  <a:srgbClr val="FFFFFF"/>
                </a:solidFill>
              </a:rPr>
              <a:t>1st-generation MD 10%  ·  2nd 5%  ·  3rd 4%  ·  4th 3%  ·  5th, 6th and 7th 1% each. Up to 25% in total.</a:t>
            </a:r>
            <a:endParaRPr lang="en-US" sz="1900" dirty="0"/>
          </a:p>
        </p:txBody>
      </p:sp>
      <p:sp>
        <p:nvSpPr>
          <p:cNvPr id="8" name="Text 6"/>
          <p:cNvSpPr/>
          <p:nvPr/>
        </p:nvSpPr>
        <p:spPr>
          <a:xfrm>
            <a:off x="786384" y="2734056"/>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To earn 100%</a:t>
            </a:r>
            <a:endParaRPr lang="en-US" sz="1800" dirty="0"/>
          </a:p>
        </p:txBody>
      </p:sp>
      <p:sp>
        <p:nvSpPr>
          <p:cNvPr id="9" name="Text 7"/>
          <p:cNvSpPr/>
          <p:nvPr/>
        </p:nvSpPr>
        <p:spPr>
          <a:xfrm>
            <a:off x="3621024" y="2734056"/>
            <a:ext cx="7589520" cy="996696"/>
          </a:xfrm>
          <a:prstGeom prst="rect">
            <a:avLst/>
          </a:prstGeom>
          <a:noFill/>
          <a:ln/>
        </p:spPr>
        <p:txBody>
          <a:bodyPr wrap="square" lIns="0" tIns="0" rIns="0" bIns="0" rtlCol="0" anchor="ctr"/>
          <a:lstStyle/>
          <a:p>
            <a:pPr indent="0" marL="0">
              <a:buNone/>
            </a:pPr>
            <a:r>
              <a:rPr lang="en-US" sz="1900" dirty="0">
                <a:solidFill>
                  <a:srgbClr val="FFFFFF"/>
                </a:solidFill>
              </a:rPr>
              <a:t>Each month: 5 MD base recruits and 10,000 MD base submitted points (see PHP’s self-sponsor rule).</a:t>
            </a:r>
            <a:endParaRPr lang="en-US" sz="1900" dirty="0"/>
          </a:p>
        </p:txBody>
      </p:sp>
      <p:sp>
        <p:nvSpPr>
          <p:cNvPr id="10" name="Text 8"/>
          <p:cNvSpPr/>
          <p:nvPr/>
        </p:nvSpPr>
        <p:spPr>
          <a:xfrm>
            <a:off x="786384" y="3913632"/>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If not met</a:t>
            </a:r>
            <a:endParaRPr lang="en-US" sz="1800" dirty="0"/>
          </a:p>
        </p:txBody>
      </p:sp>
      <p:sp>
        <p:nvSpPr>
          <p:cNvPr id="11" name="Text 9"/>
          <p:cNvSpPr/>
          <p:nvPr/>
        </p:nvSpPr>
        <p:spPr>
          <a:xfrm>
            <a:off x="3621024" y="3913632"/>
            <a:ext cx="7589520" cy="996696"/>
          </a:xfrm>
          <a:prstGeom prst="rect">
            <a:avLst/>
          </a:prstGeom>
          <a:noFill/>
          <a:ln/>
        </p:spPr>
        <p:txBody>
          <a:bodyPr wrap="square" lIns="0" tIns="0" rIns="0" bIns="0" rtlCol="0" anchor="ctr"/>
          <a:lstStyle/>
          <a:p>
            <a:pPr indent="0" marL="0">
              <a:buNone/>
            </a:pPr>
            <a:r>
              <a:rPr lang="en-US" sz="1900" dirty="0">
                <a:solidFill>
                  <a:srgbClr val="FFFFFF"/>
                </a:solidFill>
              </a:rPr>
              <a:t>The generational override is paid at 50%.</a:t>
            </a:r>
            <a:endParaRPr lang="en-US" sz="1900" dirty="0"/>
          </a:p>
        </p:txBody>
      </p:sp>
      <p:sp>
        <p:nvSpPr>
          <p:cNvPr id="13" name="Text 8"/>
          <p:cNvSpPr/>
          <p:nvPr/>
        </p:nvSpPr>
        <p:spPr>
          <a:xfrm>
            <a:off x="786384" y="5084064"/>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Exceptions</a:t>
            </a:r>
            <a:endParaRPr lang="en-US" sz="1800" dirty="0"/>
          </a:p>
        </p:txBody>
      </p:sp>
      <p:sp>
        <p:nvSpPr>
          <p:cNvPr id="14" name="Text 9"/>
          <p:cNvSpPr/>
          <p:nvPr/>
        </p:nvSpPr>
        <p:spPr>
          <a:xfrm>
            <a:off x="3621024" y="5084064"/>
            <a:ext cx="7589520" cy="996696"/>
          </a:xfrm>
          <a:prstGeom prst="rect">
            <a:avLst/>
          </a:prstGeom>
          <a:noFill/>
          <a:ln/>
        </p:spPr>
        <p:txBody>
          <a:bodyPr wrap="square" lIns="0" tIns="0" rIns="0" bIns="0" rtlCol="0" anchor="ctr"/>
          <a:lstStyle/>
          <a:p>
            <a:pPr indent="0" marL="0">
              <a:buNone/>
            </a:pPr>
            <a:r>
              <a:rPr lang="en-US" sz="1900" dirty="0">
                <a:solidFill>
                  <a:srgbClr val="FFFFFF"/>
                </a:solidFill>
              </a:rPr>
              <a:t>Chairman’s Council is exempt. MDs age 60+ are exempt from the 5/10 rule (effective 12/1/19).</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 PHP Compensation &amp; Promotion Guidelines, version 2025-1 (revised January 2025). Check for a newer version before teaching.</a:t>
            </a:r>
            <a:endParaRPr lang="en-US" sz="8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1B33"/>
        </a:solidFill>
      </p:bgPr>
    </p:bg>
    <p:spTree>
      <p:nvGrpSpPr>
        <p:cNvPr id="1" name=""/>
        <p:cNvGrpSpPr/>
        <p:nvPr/>
      </p:nvGrpSpPr>
      <p:grpSpPr/>
      <p:sp>
        <p:nvSpPr>
          <p:cNvPr id="2" name="Text 0"/>
          <p:cNvSpPr/>
          <p:nvPr/>
        </p:nvSpPr>
        <p:spPr>
          <a:xfrm>
            <a:off x="594360" y="365760"/>
            <a:ext cx="10972800" cy="612648"/>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President’s Club</a:t>
            </a:r>
            <a:endParaRPr lang="en-US" sz="2900" dirty="0"/>
          </a:p>
        </p:txBody>
      </p:sp>
      <p:sp>
        <p:nvSpPr>
          <p:cNvPr id="3" name="Text 1"/>
          <p:cNvSpPr/>
          <p:nvPr/>
        </p:nvSpPr>
        <p:spPr>
          <a:xfrm>
            <a:off x="621792" y="1024128"/>
            <a:ext cx="10881360" cy="365760"/>
          </a:xfrm>
          <a:prstGeom prst="rect">
            <a:avLst/>
          </a:prstGeom>
          <a:noFill/>
          <a:ln/>
        </p:spPr>
        <p:txBody>
          <a:bodyPr wrap="square" lIns="0" tIns="0" rIns="0" bIns="0" rtlCol="0" anchor="ctr"/>
          <a:lstStyle/>
          <a:p>
            <a:pPr indent="0" marL="0">
              <a:buNone/>
            </a:pPr>
            <a:r>
              <a:rPr lang="en-US" sz="1400" dirty="0">
                <a:solidFill>
                  <a:srgbClr val="74D3CB"/>
                </a:solidFill>
              </a:rPr>
              <a:t>A recruiting-volume milestone built on the Captain’s System.</a:t>
            </a:r>
            <a:endParaRPr lang="en-US" sz="1400" dirty="0"/>
          </a:p>
        </p:txBody>
      </p:sp>
      <p:sp>
        <p:nvSpPr>
          <p:cNvPr id="4" name="Text 2"/>
          <p:cNvSpPr/>
          <p:nvPr/>
        </p:nvSpPr>
        <p:spPr>
          <a:xfrm>
            <a:off x="621792" y="6455664"/>
            <a:ext cx="8229600" cy="164592"/>
          </a:xfrm>
          <a:prstGeom prst="rect">
            <a:avLst/>
          </a:prstGeom>
          <a:noFill/>
          <a:ln/>
        </p:spPr>
        <p:txBody>
          <a:bodyPr wrap="square" lIns="0" tIns="0" rIns="0" bIns="0" rtlCol="0" anchor="ctr"/>
          <a:lstStyle/>
          <a:p>
            <a:pPr indent="0" marL="0">
              <a:buNone/>
            </a:pPr>
            <a:r>
              <a:rPr lang="en-US" sz="900" b="1" dirty="0">
                <a:solidFill>
                  <a:srgbClr val="D5A94C"/>
                </a:solidFill>
              </a:rPr>
              <a:t>DYNASTY BUILDERS ACADEMY  /  INCOME &amp; TIMELINES</a:t>
            </a:r>
            <a:endParaRPr lang="en-US" sz="900" dirty="0"/>
          </a:p>
        </p:txBody>
      </p:sp>
      <p:sp>
        <p:nvSpPr>
          <p:cNvPr id="5" name="Text 3"/>
          <p:cNvSpPr/>
          <p:nvPr/>
        </p:nvSpPr>
        <p:spPr>
          <a:xfrm>
            <a:off x="11064240" y="6428232"/>
            <a:ext cx="420624" cy="182880"/>
          </a:xfrm>
          <a:prstGeom prst="rect">
            <a:avLst/>
          </a:prstGeom>
          <a:noFill/>
          <a:ln/>
        </p:spPr>
        <p:txBody>
          <a:bodyPr wrap="square" lIns="0" tIns="0" rIns="0" bIns="0" rtlCol="0" anchor="ctr"/>
          <a:lstStyle/>
          <a:p>
            <a:pPr algn="r" indent="0" marL="0">
              <a:buNone/>
            </a:pPr>
            <a:r>
              <a:rPr lang="en-US" sz="1000" dirty="0">
                <a:solidFill>
                  <a:srgbClr val="C7D2E5"/>
                </a:solidFill>
              </a:rPr>
              <a:t>21</a:t>
            </a:r>
            <a:endParaRPr lang="en-US" sz="1000" dirty="0"/>
          </a:p>
        </p:txBody>
      </p:sp>
      <p:sp>
        <p:nvSpPr>
          <p:cNvPr id="6" name="Text 4"/>
          <p:cNvSpPr/>
          <p:nvPr/>
        </p:nvSpPr>
        <p:spPr>
          <a:xfrm>
            <a:off x="786384" y="1554480"/>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What it measures</a:t>
            </a:r>
            <a:endParaRPr lang="en-US" sz="1800" dirty="0"/>
          </a:p>
        </p:txBody>
      </p:sp>
      <p:sp>
        <p:nvSpPr>
          <p:cNvPr id="7" name="Text 5"/>
          <p:cNvSpPr/>
          <p:nvPr/>
        </p:nvSpPr>
        <p:spPr>
          <a:xfrm>
            <a:off x="3621024" y="1554480"/>
            <a:ext cx="7589520" cy="996696"/>
          </a:xfrm>
          <a:prstGeom prst="rect">
            <a:avLst/>
          </a:prstGeom>
          <a:noFill/>
          <a:ln/>
        </p:spPr>
        <p:txBody>
          <a:bodyPr wrap="square" lIns="0" tIns="0" rIns="0" bIns="0" rtlCol="0" anchor="ctr"/>
          <a:lstStyle/>
          <a:p>
            <a:pPr indent="0" marL="0">
              <a:buNone/>
            </a:pPr>
            <a:r>
              <a:rPr lang="en-US" sz="1900" dirty="0">
                <a:solidFill>
                  <a:srgbClr val="FFFFFF"/>
                </a:solidFill>
              </a:rPr>
              <a:t>Monthly recruits: 10 (Red), 25 (Black), 50 (Blue), 75 (Green), 100 (Natural).</a:t>
            </a:r>
            <a:endParaRPr lang="en-US" sz="1900" dirty="0"/>
          </a:p>
        </p:txBody>
      </p:sp>
      <p:sp>
        <p:nvSpPr>
          <p:cNvPr id="8" name="Text 6"/>
          <p:cNvSpPr/>
          <p:nvPr/>
        </p:nvSpPr>
        <p:spPr>
          <a:xfrm>
            <a:off x="786384" y="2734056"/>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How you get there</a:t>
            </a:r>
            <a:endParaRPr lang="en-US" sz="1800" dirty="0"/>
          </a:p>
        </p:txBody>
      </p:sp>
      <p:sp>
        <p:nvSpPr>
          <p:cNvPr id="9" name="Text 7"/>
          <p:cNvSpPr/>
          <p:nvPr/>
        </p:nvSpPr>
        <p:spPr>
          <a:xfrm>
            <a:off x="3621024" y="2734056"/>
            <a:ext cx="7589520" cy="996696"/>
          </a:xfrm>
          <a:prstGeom prst="rect">
            <a:avLst/>
          </a:prstGeom>
          <a:noFill/>
          <a:ln/>
        </p:spPr>
        <p:txBody>
          <a:bodyPr wrap="square" lIns="0" tIns="0" rIns="0" bIns="0" rtlCol="0" anchor="ctr"/>
          <a:lstStyle/>
          <a:p>
            <a:pPr indent="0" marL="0">
              <a:buNone/>
            </a:pPr>
            <a:r>
              <a:rPr lang="en-US" sz="1900" dirty="0">
                <a:solidFill>
                  <a:srgbClr val="FFFFFF"/>
                </a:solidFill>
              </a:rPr>
              <a:t>Invite, confirm, host, follow up. PHPU’s illustration: 100 confirms = 30 guests = 10 recruits.</a:t>
            </a:r>
            <a:endParaRPr lang="en-US" sz="1900" dirty="0"/>
          </a:p>
        </p:txBody>
      </p:sp>
      <p:sp>
        <p:nvSpPr>
          <p:cNvPr id="10" name="Text 8"/>
          <p:cNvSpPr/>
          <p:nvPr/>
        </p:nvSpPr>
        <p:spPr>
          <a:xfrm>
            <a:off x="786384" y="3913632"/>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What it is not</a:t>
            </a:r>
            <a:endParaRPr lang="en-US" sz="1800" dirty="0"/>
          </a:p>
        </p:txBody>
      </p:sp>
      <p:sp>
        <p:nvSpPr>
          <p:cNvPr id="11" name="Text 9"/>
          <p:cNvSpPr/>
          <p:nvPr/>
        </p:nvSpPr>
        <p:spPr>
          <a:xfrm>
            <a:off x="3621024" y="3913632"/>
            <a:ext cx="7589520" cy="996696"/>
          </a:xfrm>
          <a:prstGeom prst="rect">
            <a:avLst/>
          </a:prstGeom>
          <a:noFill/>
          <a:ln/>
        </p:spPr>
        <p:txBody>
          <a:bodyPr wrap="square" lIns="0" tIns="0" rIns="0" bIns="0" rtlCol="0" anchor="ctr"/>
          <a:lstStyle/>
          <a:p>
            <a:pPr indent="0" marL="0">
              <a:buNone/>
            </a:pPr>
            <a:r>
              <a:rPr lang="en-US" sz="1900" dirty="0">
                <a:solidFill>
                  <a:srgbClr val="FFFFFF"/>
                </a:solidFill>
              </a:rPr>
              <a:t>A pay rate by itself. Income follows qualifying product business, contract levels and override rules.</a:t>
            </a:r>
            <a:endParaRPr lang="en-US" sz="1900" dirty="0"/>
          </a:p>
        </p:txBody>
      </p:sp>
      <p:sp>
        <p:nvSpPr>
          <p:cNvPr id="13" name="Text 8"/>
          <p:cNvSpPr/>
          <p:nvPr/>
        </p:nvSpPr>
        <p:spPr>
          <a:xfrm>
            <a:off x="786384" y="5084064"/>
            <a:ext cx="2743200" cy="996696"/>
          </a:xfrm>
          <a:prstGeom prst="rect">
            <a:avLst/>
          </a:prstGeom>
          <a:noFill/>
          <a:ln/>
        </p:spPr>
        <p:txBody>
          <a:bodyPr wrap="square" lIns="0" tIns="0" rIns="0" bIns="0" rtlCol="0" anchor="ctr"/>
          <a:lstStyle/>
          <a:p>
            <a:pPr indent="0" marL="0">
              <a:buNone/>
            </a:pPr>
            <a:r>
              <a:rPr lang="en-US" sz="1800" b="1" dirty="0">
                <a:solidFill>
                  <a:srgbClr val="D5A94C"/>
                </a:solidFill>
              </a:rPr>
              <a:t>Before quoting dollars</a:t>
            </a:r>
            <a:endParaRPr lang="en-US" sz="1800" dirty="0"/>
          </a:p>
        </p:txBody>
      </p:sp>
      <p:sp>
        <p:nvSpPr>
          <p:cNvPr id="14" name="Text 9"/>
          <p:cNvSpPr/>
          <p:nvPr/>
        </p:nvSpPr>
        <p:spPr>
          <a:xfrm>
            <a:off x="3621024" y="5084064"/>
            <a:ext cx="7589520" cy="996696"/>
          </a:xfrm>
          <a:prstGeom prst="rect">
            <a:avLst/>
          </a:prstGeom>
          <a:noFill/>
          <a:ln/>
        </p:spPr>
        <p:txBody>
          <a:bodyPr wrap="square" lIns="0" tIns="0" rIns="0" bIns="0" rtlCol="0" anchor="ctr"/>
          <a:lstStyle/>
          <a:p>
            <a:pPr indent="0" marL="0">
              <a:buNone/>
            </a:pPr>
            <a:r>
              <a:rPr lang="en-US" sz="1900" dirty="0">
                <a:solidFill>
                  <a:srgbClr val="FFFFFF"/>
                </a:solidFill>
              </a:rPr>
              <a:t>Use only the current compensation plan. Income examples on older charts may not match it.</a:t>
            </a:r>
            <a:endParaRPr lang="en-US" sz="1900" dirty="0"/>
          </a:p>
        </p:txBody>
      </p:sp>
      <p:sp>
        <p:nvSpPr>
          <p:cNvPr id="12" name="Text 10"/>
          <p:cNvSpPr/>
          <p:nvPr/>
        </p:nvSpPr>
        <p:spPr>
          <a:xfrm>
            <a:off x="630936" y="6208776"/>
            <a:ext cx="10698480" cy="173736"/>
          </a:xfrm>
          <a:prstGeom prst="rect">
            <a:avLst/>
          </a:prstGeom>
          <a:noFill/>
          <a:ln/>
        </p:spPr>
        <p:txBody>
          <a:bodyPr wrap="square" lIns="0" tIns="0" rIns="0" bIns="0" rtlCol="0" anchor="ctr"/>
          <a:lstStyle/>
          <a:p>
            <a:pPr indent="0" marL="0">
              <a:buNone/>
            </a:pPr>
            <a:r>
              <a:rPr lang="en-US" sz="800" dirty="0">
                <a:solidFill>
                  <a:srgbClr val="C7D2E5"/>
                </a:solidFill>
              </a:rPr>
              <a:t>Sources: PHPU PT 3, pp. 41–42 (Forging Leaders – Building Legacies); PHP Compensation &amp; Promotion Guidelines 2025-1.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Life Cycle of a Recruit: Interactive Workshop</dc:title>
  <dc:subject>Captain, guest, recruit, client, and business development training</dc:subject>
  <dc:creator>Dynasty Builders Academy</dc:creator>
  <cp:lastModifiedBy>Dynasty Builders Academy</cp:lastModifiedBy>
  <cp:revision>1</cp:revision>
  <dcterms:created xsi:type="dcterms:W3CDTF">2026-10-02T01:09:33Z</dcterms:created>
  <dcterms:modified xsi:type="dcterms:W3CDTF">2026-10-02T01:09:33Z</dcterms:modified>
</cp:coreProperties>
</file>